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ebo Bold" charset="1" panose="00000800000000000000"/>
      <p:regular r:id="rId21"/>
    </p:embeddedFont>
    <p:embeddedFont>
      <p:font typeface="Bricolage Grotesque Bold" charset="1" panose="020B0605040402000204"/>
      <p:regular r:id="rId22"/>
    </p:embeddedFont>
    <p:embeddedFont>
      <p:font typeface="Heeb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1816" y="1227296"/>
            <a:ext cx="2071688" cy="974407"/>
            <a:chOff x="0" y="0"/>
            <a:chExt cx="2762250" cy="129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762250">
                  <a:moveTo>
                    <a:pt x="0" y="0"/>
                  </a:moveTo>
                  <a:lnTo>
                    <a:pt x="2762250" y="12992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0346" t="0" r="-1034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531816" y="1227296"/>
            <a:ext cx="974407" cy="2346008"/>
            <a:chOff x="0" y="0"/>
            <a:chExt cx="1299210" cy="3128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92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1299210">
                  <a:moveTo>
                    <a:pt x="0" y="0"/>
                  </a:moveTo>
                  <a:lnTo>
                    <a:pt x="1299210" y="31280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58906" t="0" r="-25890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589216" y="2187416"/>
            <a:ext cx="700088" cy="2346008"/>
            <a:chOff x="0" y="0"/>
            <a:chExt cx="933450" cy="3128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3450" cy="3128010"/>
            </a:xfrm>
            <a:custGeom>
              <a:avLst/>
              <a:gdLst/>
              <a:ahLst/>
              <a:cxnLst/>
              <a:rect r="r" b="b" t="t" l="l"/>
              <a:pathLst>
                <a:path h="3128010" w="933450">
                  <a:moveTo>
                    <a:pt x="0" y="0"/>
                  </a:moveTo>
                  <a:lnTo>
                    <a:pt x="933450" y="31280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79947" t="0" r="-379947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491936" y="3559016"/>
            <a:ext cx="1797367" cy="974407"/>
            <a:chOff x="0" y="0"/>
            <a:chExt cx="2396490" cy="129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9649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396490">
                  <a:moveTo>
                    <a:pt x="0" y="0"/>
                  </a:moveTo>
                  <a:lnTo>
                    <a:pt x="2396490" y="12992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557" t="0" r="-19557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257496" y="3559016"/>
            <a:ext cx="1248727" cy="1385888"/>
            <a:chOff x="0" y="0"/>
            <a:chExt cx="1664970" cy="1847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49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64970">
                  <a:moveTo>
                    <a:pt x="0" y="1847850"/>
                  </a:moveTo>
                  <a:lnTo>
                    <a:pt x="16649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92396" t="0" r="-9239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314896" y="4519136"/>
            <a:ext cx="974407" cy="1797367"/>
            <a:chOff x="0" y="0"/>
            <a:chExt cx="1299210" cy="23964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9210" cy="2396490"/>
            </a:xfrm>
            <a:custGeom>
              <a:avLst/>
              <a:gdLst/>
              <a:ahLst/>
              <a:cxnLst/>
              <a:rect r="r" b="b" t="t" l="l"/>
              <a:pathLst>
                <a:path h="2396490" w="1299210">
                  <a:moveTo>
                    <a:pt x="0" y="2396490"/>
                  </a:moveTo>
                  <a:lnTo>
                    <a:pt x="129921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86665" t="0" r="-186665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257496" y="4930616"/>
            <a:ext cx="562928" cy="2620328"/>
            <a:chOff x="0" y="0"/>
            <a:chExt cx="750570" cy="34937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0570" cy="3493770"/>
            </a:xfrm>
            <a:custGeom>
              <a:avLst/>
              <a:gdLst/>
              <a:ahLst/>
              <a:cxnLst/>
              <a:rect r="r" b="b" t="t" l="l"/>
              <a:pathLst>
                <a:path h="3493770" w="750570">
                  <a:moveTo>
                    <a:pt x="0" y="0"/>
                  </a:moveTo>
                  <a:lnTo>
                    <a:pt x="750570" y="34937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7230" t="0" r="-547230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806136" y="6302216"/>
            <a:ext cx="1523048" cy="1248727"/>
            <a:chOff x="0" y="0"/>
            <a:chExt cx="2030730" cy="1664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07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030730">
                  <a:moveTo>
                    <a:pt x="0" y="1664970"/>
                  </a:moveTo>
                  <a:lnTo>
                    <a:pt x="203073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5194" t="0" r="-55194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314896" y="6302216"/>
            <a:ext cx="700088" cy="1797367"/>
            <a:chOff x="0" y="0"/>
            <a:chExt cx="933450" cy="2396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3450" cy="2396490"/>
            </a:xfrm>
            <a:custGeom>
              <a:avLst/>
              <a:gdLst/>
              <a:ahLst/>
              <a:cxnLst/>
              <a:rect r="r" b="b" t="t" l="l"/>
              <a:pathLst>
                <a:path h="2396490" w="933450">
                  <a:moveTo>
                    <a:pt x="0" y="0"/>
                  </a:moveTo>
                  <a:lnTo>
                    <a:pt x="933450" y="239649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79399" t="0" r="-279399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806136" y="7536656"/>
            <a:ext cx="2208848" cy="562928"/>
            <a:chOff x="0" y="0"/>
            <a:chExt cx="2945130" cy="750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45130" cy="750570"/>
            </a:xfrm>
            <a:custGeom>
              <a:avLst/>
              <a:gdLst/>
              <a:ahLst/>
              <a:cxnLst/>
              <a:rect r="r" b="b" t="t" l="l"/>
              <a:pathLst>
                <a:path h="750570" w="2945130">
                  <a:moveTo>
                    <a:pt x="0" y="0"/>
                  </a:moveTo>
                  <a:lnTo>
                    <a:pt x="2945130" y="7505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456" r="0" b="-26456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297376" y="1227296"/>
            <a:ext cx="1248727" cy="1385888"/>
            <a:chOff x="0" y="0"/>
            <a:chExt cx="1664970" cy="1847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649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64970">
                  <a:moveTo>
                    <a:pt x="0" y="1847850"/>
                  </a:moveTo>
                  <a:lnTo>
                    <a:pt x="16649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92396" t="0" r="-9239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571696" y="4930616"/>
            <a:ext cx="700088" cy="1797367"/>
            <a:chOff x="0" y="0"/>
            <a:chExt cx="933450" cy="23964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3450" cy="2396490"/>
            </a:xfrm>
            <a:custGeom>
              <a:avLst/>
              <a:gdLst/>
              <a:ahLst/>
              <a:cxnLst/>
              <a:rect r="r" b="b" t="t" l="l"/>
              <a:pathLst>
                <a:path h="2396490" w="933450">
                  <a:moveTo>
                    <a:pt x="0" y="2396490"/>
                  </a:moveTo>
                  <a:lnTo>
                    <a:pt x="93345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79399" t="0" r="-279399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571696" y="6713696"/>
            <a:ext cx="1248727" cy="837248"/>
            <a:chOff x="0" y="0"/>
            <a:chExt cx="1664970" cy="11163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64970" cy="1116330"/>
            </a:xfrm>
            <a:custGeom>
              <a:avLst/>
              <a:gdLst/>
              <a:ahLst/>
              <a:cxnLst/>
              <a:rect r="r" b="b" t="t" l="l"/>
              <a:pathLst>
                <a:path h="1116330" w="1664970">
                  <a:moveTo>
                    <a:pt x="0" y="0"/>
                  </a:moveTo>
                  <a:lnTo>
                    <a:pt x="1664970" y="111633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025" t="0" r="-36025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463522" y="1159002"/>
            <a:ext cx="150876" cy="150876"/>
            <a:chOff x="0" y="0"/>
            <a:chExt cx="201168" cy="201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548354" y="2146554"/>
            <a:ext cx="96012" cy="96012"/>
            <a:chOff x="0" y="0"/>
            <a:chExt cx="128016" cy="1280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451074" y="3518154"/>
            <a:ext cx="96012" cy="96012"/>
            <a:chOff x="0" y="0"/>
            <a:chExt cx="128016" cy="128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206722" y="4450842"/>
            <a:ext cx="150876" cy="150876"/>
            <a:chOff x="0" y="0"/>
            <a:chExt cx="201168" cy="2011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216634" y="4889754"/>
            <a:ext cx="96012" cy="96012"/>
            <a:chOff x="0" y="0"/>
            <a:chExt cx="128016" cy="1280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274034" y="6261354"/>
            <a:ext cx="96012" cy="96012"/>
            <a:chOff x="0" y="0"/>
            <a:chExt cx="128016" cy="1280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737842" y="7468362"/>
            <a:ext cx="150876" cy="150876"/>
            <a:chOff x="0" y="0"/>
            <a:chExt cx="201168" cy="2011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959834" y="8044434"/>
            <a:ext cx="96012" cy="96012"/>
            <a:chOff x="0" y="0"/>
            <a:chExt cx="128016" cy="1280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256514" y="2558034"/>
            <a:ext cx="96012" cy="96012"/>
            <a:chOff x="0" y="0"/>
            <a:chExt cx="128016" cy="1280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503402" y="6645402"/>
            <a:ext cx="150876" cy="150876"/>
            <a:chOff x="0" y="0"/>
            <a:chExt cx="201168" cy="2011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47236" y="1158716"/>
            <a:ext cx="4334828" cy="562928"/>
            <a:chOff x="0" y="0"/>
            <a:chExt cx="5779770" cy="7505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79770" cy="750570"/>
            </a:xfrm>
            <a:custGeom>
              <a:avLst/>
              <a:gdLst/>
              <a:ahLst/>
              <a:cxnLst/>
              <a:rect r="r" b="b" t="t" l="l"/>
              <a:pathLst>
                <a:path h="750570" w="577977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5404485" y="0"/>
                  </a:lnTo>
                  <a:cubicBezTo>
                    <a:pt x="5611749" y="0"/>
                    <a:pt x="5779770" y="168021"/>
                    <a:pt x="5779770" y="375285"/>
                  </a:cubicBezTo>
                  <a:cubicBezTo>
                    <a:pt x="5779770" y="582549"/>
                    <a:pt x="5611749" y="750570"/>
                    <a:pt x="540448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E7F1EF"/>
            </a:solid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54380" y="1165860"/>
            <a:ext cx="4320540" cy="548640"/>
            <a:chOff x="0" y="0"/>
            <a:chExt cx="57607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760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75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BLOCKCHAIN &amp; CYBERSECURITY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273516" y="1158716"/>
            <a:ext cx="2826067" cy="562928"/>
            <a:chOff x="0" y="0"/>
            <a:chExt cx="3768090" cy="7505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68090" cy="750570"/>
            </a:xfrm>
            <a:custGeom>
              <a:avLst/>
              <a:gdLst/>
              <a:ahLst/>
              <a:cxnLst/>
              <a:rect r="r" b="b" t="t" l="l"/>
              <a:pathLst>
                <a:path h="750570" w="376809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3392805" y="0"/>
                  </a:lnTo>
                  <a:cubicBezTo>
                    <a:pt x="3600069" y="0"/>
                    <a:pt x="3768090" y="168021"/>
                    <a:pt x="3768090" y="375285"/>
                  </a:cubicBezTo>
                  <a:cubicBezTo>
                    <a:pt x="3768090" y="582549"/>
                    <a:pt x="3600069" y="750570"/>
                    <a:pt x="339280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280660" y="1165860"/>
            <a:ext cx="2811780" cy="548640"/>
            <a:chOff x="0" y="0"/>
            <a:chExt cx="374904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4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749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75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SOFTWARE PROJECT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54380" y="2125980"/>
            <a:ext cx="13167360" cy="3154680"/>
            <a:chOff x="0" y="0"/>
            <a:chExt cx="17556480" cy="4206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556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28" r="0" b="-313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7556480" cy="4253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32"/>
                </a:lnSpc>
              </a:pPr>
              <a:r>
                <a:rPr lang="en-US" sz="60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Blockchain-Based Academic</a:t>
              </a:r>
            </a:p>
            <a:p>
              <a:pPr algn="l">
                <a:lnSpc>
                  <a:spcPts val="7632"/>
                </a:lnSpc>
              </a:pPr>
              <a:r>
                <a:rPr lang="en-US" sz="60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Degree Verification &amp;</a:t>
              </a:r>
            </a:p>
            <a:p>
              <a:pPr algn="l">
                <a:lnSpc>
                  <a:spcPts val="7632"/>
                </a:lnSpc>
              </a:pPr>
              <a:r>
                <a:rPr lang="en-US" sz="60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Credential Authentication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44855" y="5682615"/>
            <a:ext cx="6328410" cy="19050"/>
            <a:chOff x="0" y="0"/>
            <a:chExt cx="843788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437880" cy="25400"/>
            </a:xfrm>
            <a:custGeom>
              <a:avLst/>
              <a:gdLst/>
              <a:ahLst/>
              <a:cxnLst/>
              <a:rect r="r" b="b" t="t" l="l"/>
              <a:pathLst>
                <a:path h="25400" w="8437880">
                  <a:moveTo>
                    <a:pt x="0" y="0"/>
                  </a:moveTo>
                  <a:lnTo>
                    <a:pt x="84378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422929" r="0" b="-6422929"/>
              </a:stretch>
            </a:blipFill>
            <a:ln w="19050" cap="sq">
              <a:solidFill>
                <a:srgbClr val="DADAD5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754380" y="5996940"/>
            <a:ext cx="11658600" cy="264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b="true" sz="1425" spc="180">
                <a:solidFill>
                  <a:srgbClr val="0F766E"/>
                </a:solidFill>
                <a:latin typeface="Heebo Bold"/>
                <a:ea typeface="Heebo Bold"/>
                <a:cs typeface="Heebo Bold"/>
                <a:sym typeface="Heebo Bold"/>
              </a:rPr>
              <a:t>GUIDE</a:t>
            </a:r>
          </a:p>
          <a:p>
            <a:pPr algn="l">
              <a:lnSpc>
                <a:spcPts val="3024"/>
              </a:lnSpc>
            </a:pPr>
            <a:r>
              <a:rPr lang="en-US" sz="2100" spc="265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Ms. Chetana Bhagat</a:t>
            </a:r>
          </a:p>
          <a:p>
            <a:pPr algn="l">
              <a:lnSpc>
                <a:spcPts val="2052"/>
              </a:lnSpc>
            </a:pPr>
            <a:r>
              <a:rPr lang="en-US" b="true" sz="1425" spc="180">
                <a:solidFill>
                  <a:srgbClr val="0F766E"/>
                </a:solidFill>
                <a:latin typeface="Heebo Bold"/>
                <a:ea typeface="Heebo Bold"/>
                <a:cs typeface="Heebo Bold"/>
                <a:sym typeface="Heebo Bold"/>
              </a:rPr>
              <a:t>PRESENTED BY</a:t>
            </a:r>
          </a:p>
          <a:p>
            <a:pPr algn="l">
              <a:lnSpc>
                <a:spcPts val="2808"/>
              </a:lnSpc>
            </a:pPr>
            <a:r>
              <a:rPr lang="en-US" sz="1950" spc="246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Ramsha Siddiqui   •   Aditya Dhakarge</a:t>
            </a:r>
          </a:p>
          <a:p>
            <a:pPr algn="l">
              <a:lnSpc>
                <a:spcPts val="2808"/>
              </a:lnSpc>
            </a:pPr>
            <a:r>
              <a:rPr lang="en-US" sz="1950" spc="246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Tukaram Magar   •   Priyatam More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747236" y="8976836"/>
            <a:ext cx="16793070" cy="14288"/>
            <a:chOff x="0" y="0"/>
            <a:chExt cx="22390760" cy="19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54380" y="9162288"/>
            <a:ext cx="10972800" cy="411480"/>
            <a:chOff x="0" y="0"/>
            <a:chExt cx="14630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B.Tech Computer Science Engineering  ·  ICBT (R)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349783" y="9162288"/>
            <a:ext cx="4183380" cy="411480"/>
            <a:chOff x="0" y="0"/>
            <a:chExt cx="557784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77840" cy="548640"/>
            </a:xfrm>
            <a:custGeom>
              <a:avLst/>
              <a:gdLst/>
              <a:ahLst/>
              <a:cxnLst/>
              <a:rect r="r" b="b" t="t" l="l"/>
              <a:pathLst>
                <a:path h="5486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5778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Academic Year 2025 –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01 — 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Why This Project Exists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2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7236" y="2050256"/>
            <a:ext cx="4019360" cy="3511867"/>
            <a:chOff x="0" y="0"/>
            <a:chExt cx="5359146" cy="46824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59146" cy="4682490"/>
            </a:xfrm>
            <a:custGeom>
              <a:avLst/>
              <a:gdLst/>
              <a:ahLst/>
              <a:cxnLst/>
              <a:rect r="r" b="b" t="t" l="l"/>
              <a:pathLst>
                <a:path h="4682490" w="5359146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5193919" y="0"/>
                  </a:lnTo>
                  <a:cubicBezTo>
                    <a:pt x="5285232" y="0"/>
                    <a:pt x="5359146" y="74041"/>
                    <a:pt x="5359146" y="165227"/>
                  </a:cubicBezTo>
                  <a:lnTo>
                    <a:pt x="5359146" y="4517263"/>
                  </a:lnTo>
                  <a:cubicBezTo>
                    <a:pt x="5359146" y="4608576"/>
                    <a:pt x="5285105" y="4682490"/>
                    <a:pt x="5193919" y="4682490"/>
                  </a:cubicBezTo>
                  <a:lnTo>
                    <a:pt x="165227" y="4682490"/>
                  </a:lnTo>
                  <a:cubicBezTo>
                    <a:pt x="74041" y="4682490"/>
                    <a:pt x="0" y="4608449"/>
                    <a:pt x="0" y="4517263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56132" y="2359152"/>
            <a:ext cx="3401568" cy="329184"/>
            <a:chOff x="0" y="0"/>
            <a:chExt cx="4535424" cy="438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35424" cy="438912"/>
            </a:xfrm>
            <a:custGeom>
              <a:avLst/>
              <a:gdLst/>
              <a:ahLst/>
              <a:cxnLst/>
              <a:rect r="r" b="b" t="t" l="l"/>
              <a:pathLst>
                <a:path h="43891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5354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PROBLEM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70632"/>
            <a:ext cx="3401568" cy="466344"/>
            <a:chOff x="0" y="0"/>
            <a:chExt cx="4535424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35424" cy="621792"/>
            </a:xfrm>
            <a:custGeom>
              <a:avLst/>
              <a:gdLst/>
              <a:ahLst/>
              <a:cxnLst/>
              <a:rect r="r" b="b" t="t" l="l"/>
              <a:pathLst>
                <a:path h="6217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26" r="0" b="-921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535424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Problem Statement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56132" y="3290697"/>
            <a:ext cx="3401568" cy="19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Forged degrees and manipulated transcripts undermine trust in academic qualifications.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Manual, document-based verification is slow and error-prone.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971764" y="2050256"/>
            <a:ext cx="4019360" cy="3511867"/>
            <a:chOff x="0" y="0"/>
            <a:chExt cx="5359146" cy="4682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59146" cy="4682490"/>
            </a:xfrm>
            <a:custGeom>
              <a:avLst/>
              <a:gdLst/>
              <a:ahLst/>
              <a:cxnLst/>
              <a:rect r="r" b="b" t="t" l="l"/>
              <a:pathLst>
                <a:path h="4682490" w="5359146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5193919" y="0"/>
                  </a:lnTo>
                  <a:cubicBezTo>
                    <a:pt x="5285232" y="0"/>
                    <a:pt x="5359146" y="74041"/>
                    <a:pt x="5359146" y="165227"/>
                  </a:cubicBezTo>
                  <a:lnTo>
                    <a:pt x="5359146" y="4517263"/>
                  </a:lnTo>
                  <a:cubicBezTo>
                    <a:pt x="5359146" y="4608576"/>
                    <a:pt x="5285105" y="4682490"/>
                    <a:pt x="5193919" y="4682490"/>
                  </a:cubicBezTo>
                  <a:lnTo>
                    <a:pt x="165227" y="4682490"/>
                  </a:lnTo>
                  <a:cubicBezTo>
                    <a:pt x="74041" y="4682490"/>
                    <a:pt x="0" y="4608449"/>
                    <a:pt x="0" y="4517263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280660" y="2359152"/>
            <a:ext cx="3401568" cy="329184"/>
            <a:chOff x="0" y="0"/>
            <a:chExt cx="4535424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35424" cy="438912"/>
            </a:xfrm>
            <a:custGeom>
              <a:avLst/>
              <a:gdLst/>
              <a:ahLst/>
              <a:cxnLst/>
              <a:rect r="r" b="b" t="t" l="l"/>
              <a:pathLst>
                <a:path h="43891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5354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NEED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80660" y="2770632"/>
            <a:ext cx="3401568" cy="466344"/>
            <a:chOff x="0" y="0"/>
            <a:chExt cx="4535424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5424" cy="621792"/>
            </a:xfrm>
            <a:custGeom>
              <a:avLst/>
              <a:gdLst/>
              <a:ahLst/>
              <a:cxnLst/>
              <a:rect r="r" b="b" t="t" l="l"/>
              <a:pathLst>
                <a:path h="6217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26" r="0" b="-921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535424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Need of the Project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280660" y="3290697"/>
            <a:ext cx="3401568" cy="19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No secure, transparent, universally accessible way exists to verify credentials quickly.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Institutions and employers rely on slow registrar communication.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96292" y="2050256"/>
            <a:ext cx="4019360" cy="3511867"/>
            <a:chOff x="0" y="0"/>
            <a:chExt cx="5359146" cy="46824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59146" cy="4682490"/>
            </a:xfrm>
            <a:custGeom>
              <a:avLst/>
              <a:gdLst/>
              <a:ahLst/>
              <a:cxnLst/>
              <a:rect r="r" b="b" t="t" l="l"/>
              <a:pathLst>
                <a:path h="4682490" w="5359146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5193919" y="0"/>
                  </a:lnTo>
                  <a:cubicBezTo>
                    <a:pt x="5285232" y="0"/>
                    <a:pt x="5359146" y="74041"/>
                    <a:pt x="5359146" y="165227"/>
                  </a:cubicBezTo>
                  <a:lnTo>
                    <a:pt x="5359146" y="4517263"/>
                  </a:lnTo>
                  <a:cubicBezTo>
                    <a:pt x="5359146" y="4608576"/>
                    <a:pt x="5285105" y="4682490"/>
                    <a:pt x="5193919" y="4682490"/>
                  </a:cubicBezTo>
                  <a:lnTo>
                    <a:pt x="165227" y="4682490"/>
                  </a:lnTo>
                  <a:cubicBezTo>
                    <a:pt x="74041" y="4682490"/>
                    <a:pt x="0" y="4608449"/>
                    <a:pt x="0" y="4517263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05188" y="2359152"/>
            <a:ext cx="3401568" cy="329184"/>
            <a:chOff x="0" y="0"/>
            <a:chExt cx="4535424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35424" cy="438912"/>
            </a:xfrm>
            <a:custGeom>
              <a:avLst/>
              <a:gdLst/>
              <a:ahLst/>
              <a:cxnLst/>
              <a:rect r="r" b="b" t="t" l="l"/>
              <a:pathLst>
                <a:path h="43891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5354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GOALS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5188" y="2770632"/>
            <a:ext cx="3401568" cy="466344"/>
            <a:chOff x="0" y="0"/>
            <a:chExt cx="4535424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35424" cy="621792"/>
            </a:xfrm>
            <a:custGeom>
              <a:avLst/>
              <a:gdLst/>
              <a:ahLst/>
              <a:cxnLst/>
              <a:rect r="r" b="b" t="t" l="l"/>
              <a:pathLst>
                <a:path h="6217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26" r="0" b="-921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535424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Objectives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505188" y="3290697"/>
            <a:ext cx="3401568" cy="19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Eliminate fake-degree fraud and build trust between universities and employers.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Create permanent, tamper-proof academic records with instant verification.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420820" y="2050256"/>
            <a:ext cx="4019360" cy="3511867"/>
            <a:chOff x="0" y="0"/>
            <a:chExt cx="5359146" cy="46824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59146" cy="4682490"/>
            </a:xfrm>
            <a:custGeom>
              <a:avLst/>
              <a:gdLst/>
              <a:ahLst/>
              <a:cxnLst/>
              <a:rect r="r" b="b" t="t" l="l"/>
              <a:pathLst>
                <a:path h="4682490" w="5359146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5193919" y="0"/>
                  </a:lnTo>
                  <a:cubicBezTo>
                    <a:pt x="5285232" y="0"/>
                    <a:pt x="5359146" y="74041"/>
                    <a:pt x="5359146" y="165227"/>
                  </a:cubicBezTo>
                  <a:lnTo>
                    <a:pt x="5359146" y="4517263"/>
                  </a:lnTo>
                  <a:cubicBezTo>
                    <a:pt x="5359146" y="4608576"/>
                    <a:pt x="5285105" y="4682490"/>
                    <a:pt x="5193919" y="4682490"/>
                  </a:cubicBezTo>
                  <a:lnTo>
                    <a:pt x="165227" y="4682490"/>
                  </a:lnTo>
                  <a:cubicBezTo>
                    <a:pt x="74041" y="4682490"/>
                    <a:pt x="0" y="4608449"/>
                    <a:pt x="0" y="4517263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729716" y="2359152"/>
            <a:ext cx="3401568" cy="329184"/>
            <a:chOff x="0" y="0"/>
            <a:chExt cx="4535424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35424" cy="438912"/>
            </a:xfrm>
            <a:custGeom>
              <a:avLst/>
              <a:gdLst/>
              <a:ahLst/>
              <a:cxnLst/>
              <a:rect r="r" b="b" t="t" l="l"/>
              <a:pathLst>
                <a:path h="43891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5354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APPROACH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29716" y="2770632"/>
            <a:ext cx="3401568" cy="466344"/>
            <a:chOff x="0" y="0"/>
            <a:chExt cx="4535424" cy="621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35424" cy="621792"/>
            </a:xfrm>
            <a:custGeom>
              <a:avLst/>
              <a:gdLst/>
              <a:ahLst/>
              <a:cxnLst/>
              <a:rect r="r" b="b" t="t" l="l"/>
              <a:pathLst>
                <a:path h="6217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26" r="0" b="-921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535424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Purpose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729716" y="3290697"/>
            <a:ext cx="3401568" cy="19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Universities issue certificates digitally; proof is stored on blockchain.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Employers verify instantly via QR code or certificate ID.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187416" y="6165056"/>
            <a:ext cx="6186488" cy="2277428"/>
            <a:chOff x="0" y="0"/>
            <a:chExt cx="8248650" cy="30365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48650" cy="3036570"/>
            </a:xfrm>
            <a:custGeom>
              <a:avLst/>
              <a:gdLst/>
              <a:ahLst/>
              <a:cxnLst/>
              <a:rect r="r" b="b" t="t" l="l"/>
              <a:pathLst>
                <a:path h="3036570" w="8248650">
                  <a:moveTo>
                    <a:pt x="0" y="128778"/>
                  </a:moveTo>
                  <a:cubicBezTo>
                    <a:pt x="0" y="57658"/>
                    <a:pt x="57658" y="0"/>
                    <a:pt x="128778" y="0"/>
                  </a:cubicBezTo>
                  <a:lnTo>
                    <a:pt x="8119872" y="0"/>
                  </a:lnTo>
                  <a:cubicBezTo>
                    <a:pt x="8190992" y="0"/>
                    <a:pt x="8248650" y="57658"/>
                    <a:pt x="8248650" y="128778"/>
                  </a:cubicBezTo>
                  <a:lnTo>
                    <a:pt x="8248650" y="2907792"/>
                  </a:lnTo>
                  <a:cubicBezTo>
                    <a:pt x="8248650" y="2978912"/>
                    <a:pt x="8190992" y="3036570"/>
                    <a:pt x="8119872" y="3036570"/>
                  </a:cubicBezTo>
                  <a:lnTo>
                    <a:pt x="128778" y="3036570"/>
                  </a:lnTo>
                  <a:cubicBezTo>
                    <a:pt x="57658" y="3036570"/>
                    <a:pt x="0" y="2978912"/>
                    <a:pt x="0" y="2907792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2400300" y="6172200"/>
            <a:ext cx="5760720" cy="2263140"/>
            <a:chOff x="0" y="0"/>
            <a:chExt cx="7680960" cy="3017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0" cy="3017520"/>
            </a:xfrm>
            <a:custGeom>
              <a:avLst/>
              <a:gdLst/>
              <a:ahLst/>
              <a:cxnLst/>
              <a:rect r="r" b="b" t="t" l="l"/>
              <a:pathLst>
                <a:path h="3017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680960" cy="3036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9"/>
                </a:lnSpc>
              </a:pPr>
              <a:r>
                <a:rPr lang="en-US" b="true" sz="1275" spc="12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BEFORE</a:t>
              </a:r>
            </a:p>
            <a:p>
              <a:pPr algn="ctr">
                <a:lnSpc>
                  <a:spcPts val="2794"/>
                </a:lnSpc>
              </a:pPr>
              <a:r>
                <a:rPr lang="en-US" b="true" sz="2025" spc="190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Traditional Verification</a:t>
              </a:r>
            </a:p>
            <a:p>
              <a:pPr algn="ctr">
                <a:lnSpc>
                  <a:spcPts val="2277"/>
                </a:lnSpc>
              </a:pPr>
              <a:r>
                <a:rPr lang="en-US" sz="1650" spc="15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Manual, registrar-dependent, slow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13639" y="6165056"/>
            <a:ext cx="6186488" cy="2277428"/>
            <a:chOff x="0" y="0"/>
            <a:chExt cx="8248650" cy="30365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48650" cy="3036570"/>
            </a:xfrm>
            <a:custGeom>
              <a:avLst/>
              <a:gdLst/>
              <a:ahLst/>
              <a:cxnLst/>
              <a:rect r="r" b="b" t="t" l="l"/>
              <a:pathLst>
                <a:path h="3036570" w="8248650">
                  <a:moveTo>
                    <a:pt x="0" y="128778"/>
                  </a:moveTo>
                  <a:cubicBezTo>
                    <a:pt x="0" y="57658"/>
                    <a:pt x="57658" y="0"/>
                    <a:pt x="128778" y="0"/>
                  </a:cubicBezTo>
                  <a:lnTo>
                    <a:pt x="8119872" y="0"/>
                  </a:lnTo>
                  <a:cubicBezTo>
                    <a:pt x="8190992" y="0"/>
                    <a:pt x="8248650" y="57658"/>
                    <a:pt x="8248650" y="128778"/>
                  </a:cubicBezTo>
                  <a:lnTo>
                    <a:pt x="8248650" y="2907792"/>
                  </a:lnTo>
                  <a:cubicBezTo>
                    <a:pt x="8248650" y="2978912"/>
                    <a:pt x="8190992" y="3036570"/>
                    <a:pt x="8119872" y="3036570"/>
                  </a:cubicBezTo>
                  <a:lnTo>
                    <a:pt x="128778" y="3036570"/>
                  </a:lnTo>
                  <a:cubicBezTo>
                    <a:pt x="57658" y="3036570"/>
                    <a:pt x="0" y="2978912"/>
                    <a:pt x="0" y="2907792"/>
                  </a:cubicBezTo>
                  <a:close/>
                </a:path>
              </a:pathLst>
            </a:custGeom>
            <a:solidFill>
              <a:srgbClr val="E7F1EF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126523" y="6172200"/>
            <a:ext cx="5760720" cy="2263140"/>
            <a:chOff x="0" y="0"/>
            <a:chExt cx="7680960" cy="3017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80960" cy="3017520"/>
            </a:xfrm>
            <a:custGeom>
              <a:avLst/>
              <a:gdLst/>
              <a:ahLst/>
              <a:cxnLst/>
              <a:rect r="r" b="b" t="t" l="l"/>
              <a:pathLst>
                <a:path h="3017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7680960" cy="3036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9"/>
                </a:lnSpc>
              </a:pPr>
              <a:r>
                <a:rPr lang="en-US" b="true" sz="1275" spc="12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AFTER</a:t>
              </a:r>
            </a:p>
            <a:p>
              <a:pPr algn="ctr">
                <a:lnSpc>
                  <a:spcPts val="2794"/>
                </a:lnSpc>
              </a:pPr>
              <a:r>
                <a:rPr lang="en-US" b="true" sz="2025" spc="190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Blockchain Verification</a:t>
              </a:r>
            </a:p>
            <a:p>
              <a:pPr algn="ctr">
                <a:lnSpc>
                  <a:spcPts val="2277"/>
                </a:lnSpc>
              </a:pPr>
              <a:r>
                <a:rPr lang="en-US" sz="1650" spc="15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Instant, tamper-proof, self-service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709660" y="6823710"/>
            <a:ext cx="606247" cy="466344"/>
            <a:chOff x="0" y="0"/>
            <a:chExt cx="808330" cy="621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8355" cy="621792"/>
            </a:xfrm>
            <a:custGeom>
              <a:avLst/>
              <a:gdLst/>
              <a:ahLst/>
              <a:cxnLst/>
              <a:rect r="r" b="b" t="t" l="l"/>
              <a:pathLst>
                <a:path h="621792" w="808355">
                  <a:moveTo>
                    <a:pt x="0" y="155448"/>
                  </a:moveTo>
                  <a:lnTo>
                    <a:pt x="497459" y="155448"/>
                  </a:lnTo>
                  <a:lnTo>
                    <a:pt x="497459" y="0"/>
                  </a:lnTo>
                  <a:lnTo>
                    <a:pt x="808355" y="310896"/>
                  </a:lnTo>
                  <a:lnTo>
                    <a:pt x="497459" y="621792"/>
                  </a:lnTo>
                  <a:lnTo>
                    <a:pt x="497459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354854" y="7291864"/>
            <a:ext cx="846773" cy="23812"/>
            <a:chOff x="0" y="0"/>
            <a:chExt cx="1129030" cy="317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9030" cy="31750"/>
            </a:xfrm>
            <a:custGeom>
              <a:avLst/>
              <a:gdLst/>
              <a:ahLst/>
              <a:cxnLst/>
              <a:rect r="r" b="b" t="t" l="l"/>
              <a:pathLst>
                <a:path h="31750" w="1129030">
                  <a:moveTo>
                    <a:pt x="0" y="0"/>
                  </a:moveTo>
                  <a:lnTo>
                    <a:pt x="1129030" y="317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42887" r="0" b="-642887"/>
              </a:stretch>
            </a:blipFill>
            <a:ln w="23812" cap="sq">
              <a:solidFill>
                <a:srgbClr val="0F766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02 — LITERATURE SURVEY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Comparative Study of Existing Systems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LITERATURE SURVEY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3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754380" y="1988820"/>
          <a:ext cx="16802100" cy="4286250"/>
        </p:xfrm>
        <a:graphic>
          <a:graphicData uri="http://schemas.openxmlformats.org/drawingml/2006/table">
            <a:tbl>
              <a:tblPr/>
              <a:tblGrid>
                <a:gridCol w="2408427"/>
                <a:gridCol w="2749779"/>
                <a:gridCol w="6163299"/>
                <a:gridCol w="5480595"/>
              </a:tblGrid>
              <a:tr h="5716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Platform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Blockchain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Heebo Bold"/>
                          <a:ea typeface="Heebo Bold"/>
                          <a:cs typeface="Heebo Bold"/>
                          <a:sym typeface="Heebo Bold"/>
                        </a:rPr>
                        <a:t>Limitation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42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Blockcerts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Bitcoin / Ethereum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Open-source; widest institutional adoption worldwide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Public chain — hash-only, limited privacy controls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OpenCerts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Ethereum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Government-mandated; proven at national scale (2M+ certs)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Dependent on Ethereum network fees and congestion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EduCTX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Ark Blockchain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First ECTS-compatible blockchain credit platform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Piloted only; not yet deployed at production scale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Sony Global Ed.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Hyperledger Fabric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GDPR-aligned, privacy-by-design architecture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Permissioned network — limited public verifiability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EBSI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Permissioned (EU nodes)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Cross-border legal framework; W3C VC compliant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Multi-jurisdiction governance remains complex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754380" y="7063740"/>
            <a:ext cx="8229600" cy="384048"/>
            <a:chOff x="0" y="0"/>
            <a:chExt cx="109728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8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RESEARCH GAPS IDENTIFIED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7236" y="7536656"/>
            <a:ext cx="4019360" cy="1317308"/>
            <a:chOff x="0" y="0"/>
            <a:chExt cx="5359146" cy="17564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59146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59146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5211191" y="0"/>
                  </a:lnTo>
                  <a:cubicBezTo>
                    <a:pt x="5292852" y="0"/>
                    <a:pt x="5359146" y="66167"/>
                    <a:pt x="5359146" y="147955"/>
                  </a:cubicBezTo>
                  <a:lnTo>
                    <a:pt x="5359146" y="1608455"/>
                  </a:lnTo>
                  <a:cubicBezTo>
                    <a:pt x="5359146" y="1690116"/>
                    <a:pt x="5292979" y="1756410"/>
                    <a:pt x="5211191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" y="7543800"/>
            <a:ext cx="3593592" cy="1303020"/>
            <a:chOff x="0" y="0"/>
            <a:chExt cx="4791456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914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7" r="0" b="-37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791456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No Universal Standard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71764" y="7536656"/>
            <a:ext cx="4019360" cy="1317308"/>
            <a:chOff x="0" y="0"/>
            <a:chExt cx="5359146" cy="17564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59146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59146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5211191" y="0"/>
                  </a:lnTo>
                  <a:cubicBezTo>
                    <a:pt x="5292852" y="0"/>
                    <a:pt x="5359146" y="66167"/>
                    <a:pt x="5359146" y="147955"/>
                  </a:cubicBezTo>
                  <a:lnTo>
                    <a:pt x="5359146" y="1608455"/>
                  </a:lnTo>
                  <a:cubicBezTo>
                    <a:pt x="5359146" y="1690116"/>
                    <a:pt x="5292979" y="1756410"/>
                    <a:pt x="5211191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184648" y="7543800"/>
            <a:ext cx="3593592" cy="1303020"/>
            <a:chOff x="0" y="0"/>
            <a:chExt cx="4791456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914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7" r="0" b="-37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791456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Privacy vs Immutability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96292" y="7536656"/>
            <a:ext cx="4019360" cy="1317308"/>
            <a:chOff x="0" y="0"/>
            <a:chExt cx="5359146" cy="17564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59146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59146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5211191" y="0"/>
                  </a:lnTo>
                  <a:cubicBezTo>
                    <a:pt x="5292852" y="0"/>
                    <a:pt x="5359146" y="66167"/>
                    <a:pt x="5359146" y="147955"/>
                  </a:cubicBezTo>
                  <a:lnTo>
                    <a:pt x="5359146" y="1608455"/>
                  </a:lnTo>
                  <a:cubicBezTo>
                    <a:pt x="5359146" y="1690116"/>
                    <a:pt x="5292979" y="1756410"/>
                    <a:pt x="5211191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409176" y="7543800"/>
            <a:ext cx="3593592" cy="1303020"/>
            <a:chOff x="0" y="0"/>
            <a:chExt cx="4791456" cy="1737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14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7" r="0" b="-37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791456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Scalability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20820" y="7536656"/>
            <a:ext cx="4019360" cy="1317308"/>
            <a:chOff x="0" y="0"/>
            <a:chExt cx="5359146" cy="17564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59146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59146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5211191" y="0"/>
                  </a:lnTo>
                  <a:cubicBezTo>
                    <a:pt x="5292852" y="0"/>
                    <a:pt x="5359146" y="66167"/>
                    <a:pt x="5359146" y="147955"/>
                  </a:cubicBezTo>
                  <a:lnTo>
                    <a:pt x="5359146" y="1608455"/>
                  </a:lnTo>
                  <a:cubicBezTo>
                    <a:pt x="5359146" y="1690116"/>
                    <a:pt x="5292979" y="1756410"/>
                    <a:pt x="5211191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633704" y="7543800"/>
            <a:ext cx="3593592" cy="1303020"/>
            <a:chOff x="0" y="0"/>
            <a:chExt cx="4791456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914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7" r="0" b="-37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791456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Digital Inclusion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8190" y="1515618"/>
            <a:ext cx="14294681" cy="8174063"/>
            <a:chOff x="0" y="0"/>
            <a:chExt cx="22067433" cy="1261872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2067496" cy="12618720"/>
            </a:xfrm>
            <a:custGeom>
              <a:avLst/>
              <a:gdLst/>
              <a:ahLst/>
              <a:cxnLst/>
              <a:rect r="r" b="b" t="t" l="l"/>
              <a:pathLst>
                <a:path h="12618720" w="22067496">
                  <a:moveTo>
                    <a:pt x="0" y="0"/>
                  </a:moveTo>
                  <a:lnTo>
                    <a:pt x="22067496" y="0"/>
                  </a:lnTo>
                  <a:lnTo>
                    <a:pt x="22067496" y="12618720"/>
                  </a:lnTo>
                  <a:lnTo>
                    <a:pt x="0" y="1261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2" r="0" b="-54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8190" y="308610"/>
            <a:ext cx="13716000" cy="1207008"/>
            <a:chOff x="0" y="0"/>
            <a:chExt cx="18288000" cy="16093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4630400" cy="548640"/>
              <a:chOff x="0" y="0"/>
              <a:chExt cx="14630400" cy="5486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63040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4630400">
                    <a:moveTo>
                      <a:pt x="0" y="0"/>
                    </a:moveTo>
                    <a:lnTo>
                      <a:pt x="14630400" y="0"/>
                    </a:lnTo>
                    <a:lnTo>
                      <a:pt x="1463040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469601" r="0" b="-469601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9525"/>
                <a:ext cx="14630400" cy="53911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b="true" sz="1725" spc="270">
                    <a:solidFill>
                      <a:srgbClr val="0F766E"/>
                    </a:solidFill>
                    <a:latin typeface="Heebo Bold"/>
                    <a:ea typeface="Heebo Bold"/>
                    <a:cs typeface="Heebo Bold"/>
                    <a:sym typeface="Heebo Bold"/>
                  </a:rPr>
                  <a:t>03 — SYSTEM ARCHITECTURE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475488"/>
              <a:ext cx="18288000" cy="1133856"/>
              <a:chOff x="0" y="0"/>
              <a:chExt cx="18288000" cy="113385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288000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8288000">
                    <a:moveTo>
                      <a:pt x="0" y="0"/>
                    </a:moveTo>
                    <a:lnTo>
                      <a:pt x="18288000" y="0"/>
                    </a:lnTo>
                    <a:lnTo>
                      <a:pt x="18288000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64274" r="0" b="-264274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18288000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1A1A1A"/>
                    </a:solidFill>
                    <a:latin typeface="Bricolage Grotesque Bold"/>
                    <a:ea typeface="Bricolage Grotesque Bold"/>
                    <a:cs typeface="Bricolage Grotesque Bold"/>
                    <a:sym typeface="Bricolage Grotesque Bold"/>
                  </a:rPr>
                  <a:t>End-to-End Architecture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4671" y="411480"/>
            <a:ext cx="15934096" cy="9464040"/>
            <a:chOff x="0" y="0"/>
            <a:chExt cx="21245462" cy="1261872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1245449" cy="12618720"/>
            </a:xfrm>
            <a:custGeom>
              <a:avLst/>
              <a:gdLst/>
              <a:ahLst/>
              <a:cxnLst/>
              <a:rect r="r" b="b" t="t" l="l"/>
              <a:pathLst>
                <a:path h="12618720" w="21245449">
                  <a:moveTo>
                    <a:pt x="0" y="0"/>
                  </a:moveTo>
                  <a:lnTo>
                    <a:pt x="21245449" y="0"/>
                  </a:lnTo>
                  <a:lnTo>
                    <a:pt x="21245449" y="12618720"/>
                  </a:lnTo>
                  <a:lnTo>
                    <a:pt x="0" y="1261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04 — DATA FLOW DIAGRAMS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DFD — Level 0 &amp; Level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DFD, UML &amp; ER DIAGRAMS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5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54380" y="2057400"/>
            <a:ext cx="8023860" cy="356616"/>
            <a:chOff x="0" y="0"/>
            <a:chExt cx="10698480" cy="475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8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69848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65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LEVEL 0 — CONTEXT DIAGRAM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911521" y="3662289"/>
            <a:ext cx="3049245" cy="1465947"/>
          </a:xfrm>
          <a:prstGeom prst="line">
            <a:avLst/>
          </a:prstGeom>
          <a:ln cap="flat" w="38100">
            <a:solidFill>
              <a:srgbClr val="0F76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84396" y="2941796"/>
            <a:ext cx="2551748" cy="946976"/>
            <a:chOff x="0" y="0"/>
            <a:chExt cx="3402330" cy="1262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02330" cy="1262634"/>
            </a:xfrm>
            <a:custGeom>
              <a:avLst/>
              <a:gdLst/>
              <a:ahLst/>
              <a:cxnLst/>
              <a:rect r="r" b="b" t="t" l="l"/>
              <a:pathLst>
                <a:path h="1262634" w="3402330">
                  <a:moveTo>
                    <a:pt x="0" y="0"/>
                  </a:moveTo>
                  <a:lnTo>
                    <a:pt x="3402330" y="0"/>
                  </a:lnTo>
                  <a:lnTo>
                    <a:pt x="3402330" y="1262634"/>
                  </a:lnTo>
                  <a:lnTo>
                    <a:pt x="0" y="1262634"/>
                  </a:ln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1540" y="2948940"/>
            <a:ext cx="2537460" cy="932688"/>
            <a:chOff x="0" y="0"/>
            <a:chExt cx="3383280" cy="1243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32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3383280" cy="1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Student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4808406" y="3662172"/>
            <a:ext cx="3082613" cy="1327326"/>
          </a:xfrm>
          <a:prstGeom prst="line">
            <a:avLst/>
          </a:prstGeom>
          <a:ln cap="flat" w="38100">
            <a:solidFill>
              <a:srgbClr val="0F76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096476" y="2941796"/>
            <a:ext cx="2551748" cy="946976"/>
            <a:chOff x="0" y="0"/>
            <a:chExt cx="3402330" cy="1262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02330" cy="1262634"/>
            </a:xfrm>
            <a:custGeom>
              <a:avLst/>
              <a:gdLst/>
              <a:ahLst/>
              <a:cxnLst/>
              <a:rect r="r" b="b" t="t" l="l"/>
              <a:pathLst>
                <a:path h="1262634" w="3402330">
                  <a:moveTo>
                    <a:pt x="0" y="0"/>
                  </a:moveTo>
                  <a:lnTo>
                    <a:pt x="3402330" y="0"/>
                  </a:lnTo>
                  <a:lnTo>
                    <a:pt x="3402330" y="1262634"/>
                  </a:lnTo>
                  <a:lnTo>
                    <a:pt x="0" y="1262634"/>
                  </a:ln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103620" y="2948940"/>
            <a:ext cx="2537460" cy="932688"/>
            <a:chOff x="0" y="0"/>
            <a:chExt cx="338328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32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3383280" cy="1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University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4707533" y="5640541"/>
            <a:ext cx="0" cy="3099218"/>
          </a:xfrm>
          <a:prstGeom prst="line">
            <a:avLst/>
          </a:prstGeom>
          <a:ln cap="flat" w="38100">
            <a:solidFill>
              <a:srgbClr val="0F76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3490436" y="8428196"/>
            <a:ext cx="2551748" cy="946976"/>
            <a:chOff x="0" y="0"/>
            <a:chExt cx="3402330" cy="12626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02330" cy="1262634"/>
            </a:xfrm>
            <a:custGeom>
              <a:avLst/>
              <a:gdLst/>
              <a:ahLst/>
              <a:cxnLst/>
              <a:rect r="r" b="b" t="t" l="l"/>
              <a:pathLst>
                <a:path h="1262634" w="3402330">
                  <a:moveTo>
                    <a:pt x="0" y="0"/>
                  </a:moveTo>
                  <a:lnTo>
                    <a:pt x="3402330" y="0"/>
                  </a:lnTo>
                  <a:lnTo>
                    <a:pt x="3402330" y="1262634"/>
                  </a:lnTo>
                  <a:lnTo>
                    <a:pt x="0" y="1262634"/>
                  </a:ln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497580" y="8435340"/>
            <a:ext cx="2537460" cy="932688"/>
            <a:chOff x="0" y="0"/>
            <a:chExt cx="3383280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832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3383280" cy="1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Employer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08910" y="4972050"/>
            <a:ext cx="4114800" cy="1440180"/>
            <a:chOff x="0" y="0"/>
            <a:chExt cx="548640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486400">
                  <a:moveTo>
                    <a:pt x="0" y="960120"/>
                  </a:moveTo>
                  <a:cubicBezTo>
                    <a:pt x="0" y="429895"/>
                    <a:pt x="1228217" y="0"/>
                    <a:pt x="2743200" y="0"/>
                  </a:cubicBezTo>
                  <a:cubicBezTo>
                    <a:pt x="4258183" y="0"/>
                    <a:pt x="5486400" y="429895"/>
                    <a:pt x="5486400" y="960120"/>
                  </a:cubicBezTo>
                  <a:cubicBezTo>
                    <a:pt x="5486400" y="1490345"/>
                    <a:pt x="4258183" y="1920240"/>
                    <a:pt x="2743200" y="1920240"/>
                  </a:cubicBezTo>
                  <a:cubicBezTo>
                    <a:pt x="1228217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708910" y="4972050"/>
            <a:ext cx="4114800" cy="1440180"/>
            <a:chOff x="0" y="0"/>
            <a:chExt cx="5486400" cy="1920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48640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Blockchain Degree</a:t>
              </a:r>
            </a:p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Verification System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756785" y="6402705"/>
            <a:ext cx="19050" cy="2042160"/>
            <a:chOff x="0" y="0"/>
            <a:chExt cx="25400" cy="2722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00" cy="2722880"/>
            </a:xfrm>
            <a:custGeom>
              <a:avLst/>
              <a:gdLst/>
              <a:ahLst/>
              <a:cxnLst/>
              <a:rect r="r" b="b" t="t" l="l"/>
              <a:pathLst>
                <a:path h="2722880" w="25400">
                  <a:moveTo>
                    <a:pt x="0" y="0"/>
                  </a:moveTo>
                  <a:lnTo>
                    <a:pt x="25400" y="272288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704142" t="0" r="-13704142" b="0"/>
              </a:stretch>
            </a:blip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464040" y="2057400"/>
            <a:ext cx="8092440" cy="356616"/>
            <a:chOff x="0" y="0"/>
            <a:chExt cx="10789920" cy="475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89920" cy="475488"/>
            </a:xfrm>
            <a:custGeom>
              <a:avLst/>
              <a:gdLst/>
              <a:ahLst/>
              <a:cxnLst/>
              <a:rect r="r" b="b" t="t" l="l"/>
              <a:pathLst>
                <a:path h="47548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160" r="0" b="-3921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78992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65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LEVEL 1 — PROCESS FLOW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56896" y="2667476"/>
            <a:ext cx="8106728" cy="1001840"/>
            <a:chOff x="0" y="0"/>
            <a:chExt cx="10808970" cy="13357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806940" y="2674620"/>
            <a:ext cx="7406640" cy="987552"/>
            <a:chOff x="0" y="0"/>
            <a:chExt cx="9875520" cy="13167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Student Login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48088" y="3662172"/>
            <a:ext cx="192024" cy="249631"/>
            <a:chOff x="0" y="0"/>
            <a:chExt cx="256032" cy="3328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56896" y="3874484"/>
            <a:ext cx="8106728" cy="1001840"/>
            <a:chOff x="0" y="0"/>
            <a:chExt cx="10808970" cy="133578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806940" y="3881628"/>
            <a:ext cx="7406640" cy="987552"/>
            <a:chOff x="0" y="0"/>
            <a:chExt cx="987552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Certificate Generation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48088" y="4869180"/>
            <a:ext cx="192024" cy="249631"/>
            <a:chOff x="0" y="0"/>
            <a:chExt cx="256032" cy="3328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456896" y="5081492"/>
            <a:ext cx="8106728" cy="1001840"/>
            <a:chOff x="0" y="0"/>
            <a:chExt cx="10808970" cy="133578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806940" y="5088636"/>
            <a:ext cx="7406640" cy="987552"/>
            <a:chOff x="0" y="0"/>
            <a:chExt cx="9875520" cy="13167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3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Hash Generation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48088" y="6076188"/>
            <a:ext cx="192024" cy="249631"/>
            <a:chOff x="0" y="0"/>
            <a:chExt cx="256032" cy="3328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456896" y="6288500"/>
            <a:ext cx="8106728" cy="1001840"/>
            <a:chOff x="0" y="0"/>
            <a:chExt cx="10808970" cy="133578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E7F1EF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806940" y="6295644"/>
            <a:ext cx="7406640" cy="987552"/>
            <a:chOff x="0" y="0"/>
            <a:chExt cx="9875520" cy="13167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4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Blockchain Storage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48088" y="7283196"/>
            <a:ext cx="192024" cy="249631"/>
            <a:chOff x="0" y="0"/>
            <a:chExt cx="256032" cy="33284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56896" y="7495508"/>
            <a:ext cx="8106728" cy="1001840"/>
            <a:chOff x="0" y="0"/>
            <a:chExt cx="10808970" cy="133578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806940" y="7502652"/>
            <a:ext cx="7406640" cy="987552"/>
            <a:chOff x="0" y="0"/>
            <a:chExt cx="9875520" cy="13167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5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Verification Request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48088" y="8490204"/>
            <a:ext cx="192024" cy="249631"/>
            <a:chOff x="0" y="0"/>
            <a:chExt cx="256032" cy="33284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56896" y="8702516"/>
            <a:ext cx="8106728" cy="1001840"/>
            <a:chOff x="0" y="0"/>
            <a:chExt cx="10808970" cy="133578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80897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80897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97718" y="0"/>
                  </a:lnTo>
                  <a:cubicBezTo>
                    <a:pt x="10759187" y="0"/>
                    <a:pt x="10808970" y="49784"/>
                    <a:pt x="10808970" y="111252"/>
                  </a:cubicBezTo>
                  <a:lnTo>
                    <a:pt x="10808970" y="1224534"/>
                  </a:lnTo>
                  <a:cubicBezTo>
                    <a:pt x="10808970" y="1286002"/>
                    <a:pt x="10759187" y="1335786"/>
                    <a:pt x="1069771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806940" y="8709660"/>
            <a:ext cx="7406640" cy="987552"/>
            <a:chOff x="0" y="0"/>
            <a:chExt cx="9875520" cy="13167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87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98755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6</a:t>
              </a: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Verification Result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2730" y="102870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04 — UML &amp; ER DIAGRAMS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2730" y="125830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Use Case &amp; Entity Relationship Diagrams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45283" y="2314440"/>
            <a:ext cx="9824663" cy="7289888"/>
          </a:xfrm>
          <a:custGeom>
            <a:avLst/>
            <a:gdLst/>
            <a:ahLst/>
            <a:cxnLst/>
            <a:rect r="r" b="b" t="t" l="l"/>
            <a:pathLst>
              <a:path h="7289888" w="9824663">
                <a:moveTo>
                  <a:pt x="0" y="0"/>
                </a:moveTo>
                <a:lnTo>
                  <a:pt x="9824662" y="0"/>
                </a:lnTo>
                <a:lnTo>
                  <a:pt x="9824662" y="7289887"/>
                </a:lnTo>
                <a:lnTo>
                  <a:pt x="0" y="7289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98" t="0" r="-9357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02730" y="2108700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Use Case Diagrams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5837" y="642505"/>
            <a:ext cx="11873410" cy="9001991"/>
            <a:chOff x="0" y="0"/>
            <a:chExt cx="16643789" cy="1261872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6643815" cy="12618720"/>
            </a:xfrm>
            <a:custGeom>
              <a:avLst/>
              <a:gdLst/>
              <a:ahLst/>
              <a:cxnLst/>
              <a:rect r="r" b="b" t="t" l="l"/>
              <a:pathLst>
                <a:path h="12618720" w="16643815">
                  <a:moveTo>
                    <a:pt x="0" y="0"/>
                  </a:moveTo>
                  <a:lnTo>
                    <a:pt x="16643815" y="0"/>
                  </a:lnTo>
                  <a:lnTo>
                    <a:pt x="16643815" y="12618720"/>
                  </a:lnTo>
                  <a:lnTo>
                    <a:pt x="0" y="1261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55" r="0" b="-11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2730" y="1028700"/>
            <a:ext cx="10972800" cy="440828"/>
            <a:chOff x="0" y="0"/>
            <a:chExt cx="14630400" cy="5877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587771"/>
            </a:xfrm>
            <a:custGeom>
              <a:avLst/>
              <a:gdLst/>
              <a:ahLst/>
              <a:cxnLst/>
              <a:rect r="r" b="b" t="t" l="l"/>
              <a:pathLst>
                <a:path h="58777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771"/>
                  </a:lnTo>
                  <a:lnTo>
                    <a:pt x="0" y="587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337" r="0" b="-43167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587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b="true" sz="2124" spc="332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ER Diagram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05 — SYSTEM MODULES AND DATA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System Modules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SYSTEM MODULES AND DATA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7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7236" y="3627596"/>
            <a:ext cx="3223831" cy="3923347"/>
            <a:chOff x="0" y="0"/>
            <a:chExt cx="4298442" cy="52311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98442" cy="5231130"/>
            </a:xfrm>
            <a:custGeom>
              <a:avLst/>
              <a:gdLst/>
              <a:ahLst/>
              <a:cxnLst/>
              <a:rect r="r" b="b" t="t" l="l"/>
              <a:pathLst>
                <a:path h="5231130" w="4298442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133088" y="0"/>
                  </a:lnTo>
                  <a:cubicBezTo>
                    <a:pt x="4224401" y="0"/>
                    <a:pt x="4298442" y="74041"/>
                    <a:pt x="4298442" y="165354"/>
                  </a:cubicBezTo>
                  <a:lnTo>
                    <a:pt x="4298442" y="5065776"/>
                  </a:lnTo>
                  <a:cubicBezTo>
                    <a:pt x="4298442" y="5157089"/>
                    <a:pt x="4224401" y="5231130"/>
                    <a:pt x="4133088" y="5231130"/>
                  </a:cubicBezTo>
                  <a:lnTo>
                    <a:pt x="165354" y="5231130"/>
                  </a:lnTo>
                  <a:cubicBezTo>
                    <a:pt x="74041" y="5231130"/>
                    <a:pt x="0" y="5157089"/>
                    <a:pt x="0" y="5065776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909060"/>
            <a:ext cx="2660904" cy="329184"/>
            <a:chOff x="0" y="0"/>
            <a:chExt cx="3547872" cy="438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47872" cy="438912"/>
            </a:xfrm>
            <a:custGeom>
              <a:avLst/>
              <a:gdLst/>
              <a:ahLst/>
              <a:cxnLst/>
              <a:rect r="r" b="b" t="t" l="l"/>
              <a:pathLst>
                <a:path h="43891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4787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MODULE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320540"/>
            <a:ext cx="2660904" cy="466344"/>
            <a:chOff x="0" y="0"/>
            <a:chExt cx="3547872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47872" cy="621792"/>
            </a:xfrm>
            <a:custGeom>
              <a:avLst/>
              <a:gdLst/>
              <a:ahLst/>
              <a:cxnLst/>
              <a:rect r="r" b="b" t="t" l="l"/>
              <a:pathLst>
                <a:path h="62179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79" r="0" b="-611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547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University / Admin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4840605"/>
            <a:ext cx="2660904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Issue certificates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Manage records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Revoke certificates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4380" y="6693408"/>
            <a:ext cx="2935224" cy="685800"/>
            <a:chOff x="0" y="0"/>
            <a:chExt cx="3913632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13632" cy="914400"/>
            </a:xfrm>
            <a:custGeom>
              <a:avLst/>
              <a:gdLst/>
              <a:ahLst/>
              <a:cxnLst/>
              <a:rect r="r" b="b" t="t" l="l"/>
              <a:pathLst>
                <a:path h="91440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95" r="0" b="-333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913632" cy="923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E5E5E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35088" y="3627596"/>
            <a:ext cx="3223831" cy="3923347"/>
            <a:chOff x="0" y="0"/>
            <a:chExt cx="4298442" cy="52311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8442" cy="5231130"/>
            </a:xfrm>
            <a:custGeom>
              <a:avLst/>
              <a:gdLst/>
              <a:ahLst/>
              <a:cxnLst/>
              <a:rect r="r" b="b" t="t" l="l"/>
              <a:pathLst>
                <a:path h="5231130" w="4298442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133088" y="0"/>
                  </a:lnTo>
                  <a:cubicBezTo>
                    <a:pt x="4224401" y="0"/>
                    <a:pt x="4298442" y="74041"/>
                    <a:pt x="4298442" y="165354"/>
                  </a:cubicBezTo>
                  <a:lnTo>
                    <a:pt x="4298442" y="5065776"/>
                  </a:lnTo>
                  <a:cubicBezTo>
                    <a:pt x="4298442" y="5157089"/>
                    <a:pt x="4224401" y="5231130"/>
                    <a:pt x="4133088" y="5231130"/>
                  </a:cubicBezTo>
                  <a:lnTo>
                    <a:pt x="165354" y="5231130"/>
                  </a:lnTo>
                  <a:cubicBezTo>
                    <a:pt x="74041" y="5231130"/>
                    <a:pt x="0" y="5157089"/>
                    <a:pt x="0" y="5065776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416552" y="3909060"/>
            <a:ext cx="2660904" cy="329184"/>
            <a:chOff x="0" y="0"/>
            <a:chExt cx="3547872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47872" cy="438912"/>
            </a:xfrm>
            <a:custGeom>
              <a:avLst/>
              <a:gdLst/>
              <a:ahLst/>
              <a:cxnLst/>
              <a:rect r="r" b="b" t="t" l="l"/>
              <a:pathLst>
                <a:path h="43891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54787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MODULE 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16552" y="4320540"/>
            <a:ext cx="2660904" cy="466344"/>
            <a:chOff x="0" y="0"/>
            <a:chExt cx="3547872" cy="6217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47872" cy="621792"/>
            </a:xfrm>
            <a:custGeom>
              <a:avLst/>
              <a:gdLst/>
              <a:ahLst/>
              <a:cxnLst/>
              <a:rect r="r" b="b" t="t" l="l"/>
              <a:pathLst>
                <a:path h="62179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79" r="0" b="-611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547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Student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416552" y="4840605"/>
            <a:ext cx="2660904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View certificates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Download certificates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Share QR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142232" y="6693408"/>
            <a:ext cx="2935224" cy="685800"/>
            <a:chOff x="0" y="0"/>
            <a:chExt cx="3913632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13632" cy="914400"/>
            </a:xfrm>
            <a:custGeom>
              <a:avLst/>
              <a:gdLst/>
              <a:ahLst/>
              <a:cxnLst/>
              <a:rect r="r" b="b" t="t" l="l"/>
              <a:pathLst>
                <a:path h="91440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95" r="0" b="-333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913632" cy="923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E5E5E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22940" y="3627596"/>
            <a:ext cx="3223831" cy="3923347"/>
            <a:chOff x="0" y="0"/>
            <a:chExt cx="4298442" cy="52311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98442" cy="5231130"/>
            </a:xfrm>
            <a:custGeom>
              <a:avLst/>
              <a:gdLst/>
              <a:ahLst/>
              <a:cxnLst/>
              <a:rect r="r" b="b" t="t" l="l"/>
              <a:pathLst>
                <a:path h="5231130" w="4298442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133088" y="0"/>
                  </a:lnTo>
                  <a:cubicBezTo>
                    <a:pt x="4224401" y="0"/>
                    <a:pt x="4298442" y="74041"/>
                    <a:pt x="4298442" y="165354"/>
                  </a:cubicBezTo>
                  <a:lnTo>
                    <a:pt x="4298442" y="5065776"/>
                  </a:lnTo>
                  <a:cubicBezTo>
                    <a:pt x="4298442" y="5157089"/>
                    <a:pt x="4224401" y="5231130"/>
                    <a:pt x="4133088" y="5231130"/>
                  </a:cubicBezTo>
                  <a:lnTo>
                    <a:pt x="165354" y="5231130"/>
                  </a:lnTo>
                  <a:cubicBezTo>
                    <a:pt x="74041" y="5231130"/>
                    <a:pt x="0" y="5157089"/>
                    <a:pt x="0" y="5065776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804404" y="3909060"/>
            <a:ext cx="2660904" cy="329184"/>
            <a:chOff x="0" y="0"/>
            <a:chExt cx="3547872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47872" cy="438912"/>
            </a:xfrm>
            <a:custGeom>
              <a:avLst/>
              <a:gdLst/>
              <a:ahLst/>
              <a:cxnLst/>
              <a:rect r="r" b="b" t="t" l="l"/>
              <a:pathLst>
                <a:path h="43891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54787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MODULE 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04404" y="4320540"/>
            <a:ext cx="2660904" cy="466344"/>
            <a:chOff x="0" y="0"/>
            <a:chExt cx="3547872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47872" cy="621792"/>
            </a:xfrm>
            <a:custGeom>
              <a:avLst/>
              <a:gdLst/>
              <a:ahLst/>
              <a:cxnLst/>
              <a:rect r="r" b="b" t="t" l="l"/>
              <a:pathLst>
                <a:path h="62179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79" r="0" b="-6117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547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Verification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804404" y="4840605"/>
            <a:ext cx="2660904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QR verification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Certificate ID verification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Status display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530084" y="6693408"/>
            <a:ext cx="2935224" cy="685800"/>
            <a:chOff x="0" y="0"/>
            <a:chExt cx="3913632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13632" cy="914400"/>
            </a:xfrm>
            <a:custGeom>
              <a:avLst/>
              <a:gdLst/>
              <a:ahLst/>
              <a:cxnLst/>
              <a:rect r="r" b="b" t="t" l="l"/>
              <a:pathLst>
                <a:path h="91440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95" r="0" b="-333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913632" cy="923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E5E5E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10792" y="3627596"/>
            <a:ext cx="3223831" cy="3923347"/>
            <a:chOff x="0" y="0"/>
            <a:chExt cx="4298442" cy="52311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98442" cy="5231130"/>
            </a:xfrm>
            <a:custGeom>
              <a:avLst/>
              <a:gdLst/>
              <a:ahLst/>
              <a:cxnLst/>
              <a:rect r="r" b="b" t="t" l="l"/>
              <a:pathLst>
                <a:path h="5231130" w="4298442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133088" y="0"/>
                  </a:lnTo>
                  <a:cubicBezTo>
                    <a:pt x="4224401" y="0"/>
                    <a:pt x="4298442" y="74041"/>
                    <a:pt x="4298442" y="165354"/>
                  </a:cubicBezTo>
                  <a:lnTo>
                    <a:pt x="4298442" y="5065776"/>
                  </a:lnTo>
                  <a:cubicBezTo>
                    <a:pt x="4298442" y="5157089"/>
                    <a:pt x="4224401" y="5231130"/>
                    <a:pt x="4133088" y="5231130"/>
                  </a:cubicBezTo>
                  <a:lnTo>
                    <a:pt x="165354" y="5231130"/>
                  </a:lnTo>
                  <a:cubicBezTo>
                    <a:pt x="74041" y="5231130"/>
                    <a:pt x="0" y="5157089"/>
                    <a:pt x="0" y="5065776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192256" y="3909060"/>
            <a:ext cx="2660904" cy="329184"/>
            <a:chOff x="0" y="0"/>
            <a:chExt cx="3547872" cy="4389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47872" cy="438912"/>
            </a:xfrm>
            <a:custGeom>
              <a:avLst/>
              <a:gdLst/>
              <a:ahLst/>
              <a:cxnLst/>
              <a:rect r="r" b="b" t="t" l="l"/>
              <a:pathLst>
                <a:path h="43891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54787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MODULE 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192256" y="4320540"/>
            <a:ext cx="2660904" cy="466344"/>
            <a:chOff x="0" y="0"/>
            <a:chExt cx="3547872" cy="6217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47872" cy="621792"/>
            </a:xfrm>
            <a:custGeom>
              <a:avLst/>
              <a:gdLst/>
              <a:ahLst/>
              <a:cxnLst/>
              <a:rect r="r" b="b" t="t" l="l"/>
              <a:pathLst>
                <a:path h="62179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79" r="0" b="-6117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547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Blockchain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1192256" y="4840605"/>
            <a:ext cx="2660904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Store certificate hash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Execute smart contracts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Maintain immutable records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917936" y="6693408"/>
            <a:ext cx="2935224" cy="685800"/>
            <a:chOff x="0" y="0"/>
            <a:chExt cx="3913632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13632" cy="914400"/>
            </a:xfrm>
            <a:custGeom>
              <a:avLst/>
              <a:gdLst/>
              <a:ahLst/>
              <a:cxnLst/>
              <a:rect r="r" b="b" t="t" l="l"/>
              <a:pathLst>
                <a:path h="91440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95" r="0" b="-3339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913632" cy="923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E5E5E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298644" y="3627596"/>
            <a:ext cx="3223831" cy="3923347"/>
            <a:chOff x="0" y="0"/>
            <a:chExt cx="4298442" cy="52311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98442" cy="5231130"/>
            </a:xfrm>
            <a:custGeom>
              <a:avLst/>
              <a:gdLst/>
              <a:ahLst/>
              <a:cxnLst/>
              <a:rect r="r" b="b" t="t" l="l"/>
              <a:pathLst>
                <a:path h="5231130" w="4298442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133088" y="0"/>
                  </a:lnTo>
                  <a:cubicBezTo>
                    <a:pt x="4224401" y="0"/>
                    <a:pt x="4298442" y="74041"/>
                    <a:pt x="4298442" y="165354"/>
                  </a:cubicBezTo>
                  <a:lnTo>
                    <a:pt x="4298442" y="5065776"/>
                  </a:lnTo>
                  <a:cubicBezTo>
                    <a:pt x="4298442" y="5157089"/>
                    <a:pt x="4224401" y="5231130"/>
                    <a:pt x="4133088" y="5231130"/>
                  </a:cubicBezTo>
                  <a:lnTo>
                    <a:pt x="165354" y="5231130"/>
                  </a:lnTo>
                  <a:cubicBezTo>
                    <a:pt x="74041" y="5231130"/>
                    <a:pt x="0" y="5157089"/>
                    <a:pt x="0" y="5065776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580108" y="3909060"/>
            <a:ext cx="2660904" cy="329184"/>
            <a:chOff x="0" y="0"/>
            <a:chExt cx="3547872" cy="4389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47872" cy="438912"/>
            </a:xfrm>
            <a:custGeom>
              <a:avLst/>
              <a:gdLst/>
              <a:ahLst/>
              <a:cxnLst/>
              <a:rect r="r" b="b" t="t" l="l"/>
              <a:pathLst>
                <a:path h="43891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54787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MODULE 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580108" y="4320540"/>
            <a:ext cx="2660904" cy="466344"/>
            <a:chOff x="0" y="0"/>
            <a:chExt cx="3547872" cy="6217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47872" cy="621792"/>
            </a:xfrm>
            <a:custGeom>
              <a:avLst/>
              <a:gdLst/>
              <a:ahLst/>
              <a:cxnLst/>
              <a:rect r="r" b="b" t="t" l="l"/>
              <a:pathLst>
                <a:path h="621792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79" r="0" b="-611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547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Database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4580108" y="4840605"/>
            <a:ext cx="2660904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Store student records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Certificate metadata</a:t>
            </a:r>
          </a:p>
          <a:p>
            <a:pPr algn="l" marL="285036" indent="-142518" lvl="1">
              <a:lnSpc>
                <a:spcPts val="2116"/>
              </a:lnSpc>
              <a:buFont typeface="Arial"/>
              <a:buChar char="•"/>
            </a:pPr>
            <a:r>
              <a:rPr lang="en-US" sz="1575">
                <a:solidFill>
                  <a:srgbClr val="666666"/>
                </a:solidFill>
                <a:latin typeface="Heebo"/>
                <a:ea typeface="Heebo"/>
                <a:cs typeface="Heebo"/>
                <a:sym typeface="Heebo"/>
              </a:rPr>
              <a:t>Transaction references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4305788" y="6693408"/>
            <a:ext cx="2935224" cy="685800"/>
            <a:chOff x="0" y="0"/>
            <a:chExt cx="3913632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13632" cy="914400"/>
            </a:xfrm>
            <a:custGeom>
              <a:avLst/>
              <a:gdLst/>
              <a:ahLst/>
              <a:cxnLst/>
              <a:rect r="r" b="b" t="t" l="l"/>
              <a:pathLst>
                <a:path h="91440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95" r="0" b="-333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913632" cy="923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E5E5E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05 — SYSTEM MODULES AND DATA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Issuance &amp; Verification Workflow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SYSTEM MODULES AND DATA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8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2976" y="2050256"/>
            <a:ext cx="7626668" cy="1001840"/>
            <a:chOff x="0" y="0"/>
            <a:chExt cx="10168890" cy="13357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" y="2304288"/>
            <a:ext cx="493776" cy="493776"/>
            <a:chOff x="0" y="0"/>
            <a:chExt cx="658368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" y="2304288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92808" y="2057400"/>
            <a:ext cx="6446520" cy="987552"/>
            <a:chOff x="0" y="0"/>
            <a:chExt cx="8595360" cy="1316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University Login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57884" y="3065526"/>
            <a:ext cx="192024" cy="249631"/>
            <a:chOff x="0" y="0"/>
            <a:chExt cx="256032" cy="3328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2976" y="3298412"/>
            <a:ext cx="7626668" cy="1001840"/>
            <a:chOff x="0" y="0"/>
            <a:chExt cx="10168890" cy="13357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07008" y="3552444"/>
            <a:ext cx="493776" cy="493776"/>
            <a:chOff x="0" y="0"/>
            <a:chExt cx="658368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" y="3552444"/>
            <a:ext cx="493776" cy="493776"/>
            <a:chOff x="0" y="0"/>
            <a:chExt cx="658368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92808" y="3305556"/>
            <a:ext cx="6446520" cy="987552"/>
            <a:chOff x="0" y="0"/>
            <a:chExt cx="8595360" cy="13167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Enter Student Details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7884" y="4313682"/>
            <a:ext cx="192024" cy="249631"/>
            <a:chOff x="0" y="0"/>
            <a:chExt cx="256032" cy="3328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2976" y="4546568"/>
            <a:ext cx="7626668" cy="1001840"/>
            <a:chOff x="0" y="0"/>
            <a:chExt cx="10168890" cy="133578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008" y="4800600"/>
            <a:ext cx="493776" cy="493776"/>
            <a:chOff x="0" y="0"/>
            <a:chExt cx="658368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" y="4800600"/>
            <a:ext cx="493776" cy="493776"/>
            <a:chOff x="0" y="0"/>
            <a:chExt cx="658368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92808" y="4553712"/>
            <a:ext cx="6446520" cy="987552"/>
            <a:chOff x="0" y="0"/>
            <a:chExt cx="8595360" cy="13167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Generate Certificate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7884" y="5561838"/>
            <a:ext cx="192024" cy="249631"/>
            <a:chOff x="0" y="0"/>
            <a:chExt cx="256032" cy="3328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2976" y="5794724"/>
            <a:ext cx="7626668" cy="1001840"/>
            <a:chOff x="0" y="0"/>
            <a:chExt cx="10168890" cy="133578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07008" y="6048756"/>
            <a:ext cx="493776" cy="493776"/>
            <a:chOff x="0" y="0"/>
            <a:chExt cx="658368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07008" y="6048756"/>
            <a:ext cx="493776" cy="493776"/>
            <a:chOff x="0" y="0"/>
            <a:chExt cx="658368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92808" y="5801868"/>
            <a:ext cx="6446520" cy="987552"/>
            <a:chOff x="0" y="0"/>
            <a:chExt cx="859536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Generate Certificate Hash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57884" y="6809994"/>
            <a:ext cx="192024" cy="249631"/>
            <a:chOff x="0" y="0"/>
            <a:chExt cx="256032" cy="33284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2976" y="7042880"/>
            <a:ext cx="7626668" cy="1001840"/>
            <a:chOff x="0" y="0"/>
            <a:chExt cx="10168890" cy="133578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E7F1EF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07008" y="7296912"/>
            <a:ext cx="493776" cy="493776"/>
            <a:chOff x="0" y="0"/>
            <a:chExt cx="658368" cy="6583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07008" y="7296912"/>
            <a:ext cx="493776" cy="493776"/>
            <a:chOff x="0" y="0"/>
            <a:chExt cx="658368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892808" y="7050024"/>
            <a:ext cx="6446520" cy="987552"/>
            <a:chOff x="0" y="0"/>
            <a:chExt cx="8595360" cy="1316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Store Hash on Blockchain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622756" y="2050256"/>
            <a:ext cx="7626668" cy="1001840"/>
            <a:chOff x="0" y="0"/>
            <a:chExt cx="10168890" cy="133578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876788" y="2304288"/>
            <a:ext cx="493776" cy="493776"/>
            <a:chOff x="0" y="0"/>
            <a:chExt cx="658368" cy="6583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876788" y="2304288"/>
            <a:ext cx="493776" cy="493776"/>
            <a:chOff x="0" y="0"/>
            <a:chExt cx="658368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562588" y="2057400"/>
            <a:ext cx="6446520" cy="987552"/>
            <a:chOff x="0" y="0"/>
            <a:chExt cx="8595360" cy="13167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Issue Certificate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027664" y="3065526"/>
            <a:ext cx="192024" cy="249631"/>
            <a:chOff x="0" y="0"/>
            <a:chExt cx="256032" cy="33284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622756" y="3298412"/>
            <a:ext cx="7626668" cy="1001840"/>
            <a:chOff x="0" y="0"/>
            <a:chExt cx="10168890" cy="133578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876788" y="3552444"/>
            <a:ext cx="493776" cy="493776"/>
            <a:chOff x="0" y="0"/>
            <a:chExt cx="658368" cy="6583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876788" y="3552444"/>
            <a:ext cx="493776" cy="493776"/>
            <a:chOff x="0" y="0"/>
            <a:chExt cx="658368" cy="6583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7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62588" y="3305556"/>
            <a:ext cx="6446520" cy="987552"/>
            <a:chOff x="0" y="0"/>
            <a:chExt cx="8595360" cy="13167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Student Shares QR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027664" y="4313682"/>
            <a:ext cx="192024" cy="249631"/>
            <a:chOff x="0" y="0"/>
            <a:chExt cx="256032" cy="33284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622756" y="4546568"/>
            <a:ext cx="7626668" cy="1001840"/>
            <a:chOff x="0" y="0"/>
            <a:chExt cx="10168890" cy="133578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876788" y="4800600"/>
            <a:ext cx="493776" cy="493776"/>
            <a:chOff x="0" y="0"/>
            <a:chExt cx="658368" cy="65836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876788" y="4800600"/>
            <a:ext cx="493776" cy="493776"/>
            <a:chOff x="0" y="0"/>
            <a:chExt cx="658368" cy="65836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8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62588" y="4553712"/>
            <a:ext cx="6446520" cy="987552"/>
            <a:chOff x="0" y="0"/>
            <a:chExt cx="8595360" cy="13167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Employer Scans QR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027664" y="5561838"/>
            <a:ext cx="192024" cy="249631"/>
            <a:chOff x="0" y="0"/>
            <a:chExt cx="256032" cy="33284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622756" y="5794724"/>
            <a:ext cx="7626668" cy="1001840"/>
            <a:chOff x="0" y="0"/>
            <a:chExt cx="10168890" cy="133578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876788" y="6048756"/>
            <a:ext cx="493776" cy="493776"/>
            <a:chOff x="0" y="0"/>
            <a:chExt cx="658368" cy="65836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876788" y="6048756"/>
            <a:ext cx="493776" cy="493776"/>
            <a:chOff x="0" y="0"/>
            <a:chExt cx="658368" cy="65836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9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562588" y="5801868"/>
            <a:ext cx="6446520" cy="987552"/>
            <a:chOff x="0" y="0"/>
            <a:chExt cx="8595360" cy="13167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Blockchain Validation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027664" y="6809994"/>
            <a:ext cx="192024" cy="249631"/>
            <a:chOff x="0" y="0"/>
            <a:chExt cx="256032" cy="33284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56032" cy="332867"/>
            </a:xfrm>
            <a:custGeom>
              <a:avLst/>
              <a:gdLst/>
              <a:ahLst/>
              <a:cxnLst/>
              <a:rect r="r" b="b" t="t" l="l"/>
              <a:pathLst>
                <a:path h="332867" w="256032">
                  <a:moveTo>
                    <a:pt x="0" y="204851"/>
                  </a:moveTo>
                  <a:lnTo>
                    <a:pt x="64008" y="204851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04851"/>
                  </a:lnTo>
                  <a:lnTo>
                    <a:pt x="256032" y="204851"/>
                  </a:lnTo>
                  <a:lnTo>
                    <a:pt x="128016" y="332867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622756" y="7042880"/>
            <a:ext cx="7626668" cy="1001840"/>
            <a:chOff x="0" y="0"/>
            <a:chExt cx="10168890" cy="133578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168890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9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057638" y="0"/>
                  </a:lnTo>
                  <a:cubicBezTo>
                    <a:pt x="10119106" y="0"/>
                    <a:pt x="10168890" y="49784"/>
                    <a:pt x="10168890" y="111252"/>
                  </a:cubicBezTo>
                  <a:lnTo>
                    <a:pt x="10168890" y="1224534"/>
                  </a:lnTo>
                  <a:cubicBezTo>
                    <a:pt x="10168890" y="1286002"/>
                    <a:pt x="10119106" y="1335786"/>
                    <a:pt x="1005763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E7F1EF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876788" y="7296912"/>
            <a:ext cx="493776" cy="493776"/>
            <a:chOff x="0" y="0"/>
            <a:chExt cx="658368" cy="65836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876788" y="7296912"/>
            <a:ext cx="493776" cy="493776"/>
            <a:chOff x="0" y="0"/>
            <a:chExt cx="658368" cy="65836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658368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10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562588" y="7050024"/>
            <a:ext cx="6446520" cy="987552"/>
            <a:chOff x="0" y="0"/>
            <a:chExt cx="8595360" cy="131673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8595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85953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Certificate Verified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560594" y="7531894"/>
            <a:ext cx="1025080" cy="23812"/>
            <a:chOff x="0" y="0"/>
            <a:chExt cx="1366774" cy="3175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366774" cy="31750"/>
            </a:xfrm>
            <a:custGeom>
              <a:avLst/>
              <a:gdLst/>
              <a:ahLst/>
              <a:cxnLst/>
              <a:rect r="r" b="b" t="t" l="l"/>
              <a:pathLst>
                <a:path h="31750" w="1366774">
                  <a:moveTo>
                    <a:pt x="0" y="0"/>
                  </a:moveTo>
                  <a:lnTo>
                    <a:pt x="1366774" y="317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88791" r="0" b="-788791"/>
              </a:stretch>
            </a:blipFill>
            <a:ln w="23812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9589294" y="2539270"/>
            <a:ext cx="23812" cy="5016436"/>
            <a:chOff x="0" y="0"/>
            <a:chExt cx="31750" cy="668858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1750" cy="6688582"/>
            </a:xfrm>
            <a:custGeom>
              <a:avLst/>
              <a:gdLst/>
              <a:ahLst/>
              <a:cxnLst/>
              <a:rect r="r" b="b" t="t" l="l"/>
              <a:pathLst>
                <a:path h="6688582" w="31750">
                  <a:moveTo>
                    <a:pt x="0" y="0"/>
                  </a:moveTo>
                  <a:lnTo>
                    <a:pt x="31750" y="6688582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6978943" t="0" r="-26978943" b="0"/>
              </a:stretch>
            </a:blipFill>
            <a:ln w="23812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9589294" y="2539270"/>
            <a:ext cx="805624" cy="23812"/>
            <a:chOff x="0" y="0"/>
            <a:chExt cx="1074166" cy="3175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74166" cy="31750"/>
            </a:xfrm>
            <a:custGeom>
              <a:avLst/>
              <a:gdLst/>
              <a:ahLst/>
              <a:cxnLst/>
              <a:rect r="r" b="b" t="t" l="l"/>
              <a:pathLst>
                <a:path h="31750" w="1074166">
                  <a:moveTo>
                    <a:pt x="0" y="0"/>
                  </a:moveTo>
                  <a:lnTo>
                    <a:pt x="1074166" y="317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09217" r="0" b="-609217"/>
              </a:stretch>
            </a:blipFill>
            <a:ln w="23812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0383012" y="2427732"/>
            <a:ext cx="320954" cy="246888"/>
            <a:chOff x="0" y="0"/>
            <a:chExt cx="427939" cy="32918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27990" cy="329184"/>
            </a:xfrm>
            <a:custGeom>
              <a:avLst/>
              <a:gdLst/>
              <a:ahLst/>
              <a:cxnLst/>
              <a:rect r="r" b="b" t="t" l="l"/>
              <a:pathLst>
                <a:path h="329184" w="427990">
                  <a:moveTo>
                    <a:pt x="0" y="82296"/>
                  </a:moveTo>
                  <a:lnTo>
                    <a:pt x="263398" y="82296"/>
                  </a:lnTo>
                  <a:lnTo>
                    <a:pt x="263398" y="0"/>
                  </a:lnTo>
                  <a:lnTo>
                    <a:pt x="427990" y="164592"/>
                  </a:lnTo>
                  <a:lnTo>
                    <a:pt x="263398" y="329184"/>
                  </a:lnTo>
                  <a:lnTo>
                    <a:pt x="263398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7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PROJECT SUMMARY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32688"/>
            <a:ext cx="13716000" cy="850392"/>
            <a:chOff x="0" y="0"/>
            <a:chExt cx="1828800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Achievements &amp; Future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93224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25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PROJECT SUMMARY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1563" y="9793224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666"/>
                  </a:solidFill>
                  <a:latin typeface="Heebo"/>
                  <a:ea typeface="Heebo"/>
                  <a:cs typeface="Heebo"/>
                  <a:sym typeface="Heebo"/>
                </a:rPr>
                <a:t>9 / 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6" y="9703784"/>
            <a:ext cx="16793070" cy="14288"/>
            <a:chOff x="0" y="0"/>
            <a:chExt cx="2239076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90736" cy="19050"/>
            </a:xfrm>
            <a:custGeom>
              <a:avLst/>
              <a:gdLst/>
              <a:ahLst/>
              <a:cxnLst/>
              <a:rect r="r" b="b" t="t" l="l"/>
              <a:pathLst>
                <a:path h="19050" w="22390736">
                  <a:moveTo>
                    <a:pt x="0" y="0"/>
                  </a:moveTo>
                  <a:lnTo>
                    <a:pt x="22390736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852090" r="0" b="-22852090"/>
              </a:stretch>
            </a:blip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54380" y="2125980"/>
            <a:ext cx="8092440" cy="411480"/>
            <a:chOff x="0" y="0"/>
            <a:chExt cx="107899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07899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ACHIEVEMENTS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7236" y="2736056"/>
            <a:ext cx="8106728" cy="1180148"/>
            <a:chOff x="0" y="0"/>
            <a:chExt cx="10808970" cy="1573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46607" y="3097149"/>
            <a:ext cx="457962" cy="457962"/>
            <a:chOff x="0" y="0"/>
            <a:chExt cx="610616" cy="6106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56132" y="3106674"/>
            <a:ext cx="438912" cy="438912"/>
            <a:chOff x="0" y="0"/>
            <a:chExt cx="585216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41932" y="2743200"/>
            <a:ext cx="6858000" cy="1165860"/>
            <a:chOff x="0" y="0"/>
            <a:chExt cx="91440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Tamper-proof verification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7236" y="4121372"/>
            <a:ext cx="8106728" cy="1180148"/>
            <a:chOff x="0" y="0"/>
            <a:chExt cx="10808970" cy="15735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46607" y="4482465"/>
            <a:ext cx="457962" cy="457962"/>
            <a:chOff x="0" y="0"/>
            <a:chExt cx="610616" cy="6106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56132" y="4491990"/>
            <a:ext cx="438912" cy="438912"/>
            <a:chOff x="0" y="0"/>
            <a:chExt cx="585216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41932" y="4128516"/>
            <a:ext cx="6858000" cy="1165860"/>
            <a:chOff x="0" y="0"/>
            <a:chExt cx="914400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Instant authentication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7236" y="5506688"/>
            <a:ext cx="8106728" cy="1180148"/>
            <a:chOff x="0" y="0"/>
            <a:chExt cx="10808970" cy="15735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46607" y="5867781"/>
            <a:ext cx="457962" cy="457962"/>
            <a:chOff x="0" y="0"/>
            <a:chExt cx="610616" cy="6106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56132" y="5877306"/>
            <a:ext cx="438912" cy="438912"/>
            <a:chOff x="0" y="0"/>
            <a:chExt cx="585216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41932" y="5513832"/>
            <a:ext cx="6858000" cy="1165860"/>
            <a:chOff x="0" y="0"/>
            <a:chExt cx="914400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Reduced fraud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47236" y="6892004"/>
            <a:ext cx="8106728" cy="1180148"/>
            <a:chOff x="0" y="0"/>
            <a:chExt cx="10808970" cy="15735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46607" y="7253097"/>
            <a:ext cx="457962" cy="457962"/>
            <a:chOff x="0" y="0"/>
            <a:chExt cx="610616" cy="6106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56132" y="7262622"/>
            <a:ext cx="438912" cy="438912"/>
            <a:chOff x="0" y="0"/>
            <a:chExt cx="585216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41932" y="6899148"/>
            <a:ext cx="6858000" cy="1165860"/>
            <a:chOff x="0" y="0"/>
            <a:chExt cx="9144000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QR verification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47236" y="8277320"/>
            <a:ext cx="8106728" cy="1180148"/>
            <a:chOff x="0" y="0"/>
            <a:chExt cx="10808970" cy="15735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46607" y="8638413"/>
            <a:ext cx="457962" cy="457962"/>
            <a:chOff x="0" y="0"/>
            <a:chExt cx="610616" cy="6106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7F1EF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056132" y="8647938"/>
            <a:ext cx="438912" cy="438912"/>
            <a:chOff x="0" y="0"/>
            <a:chExt cx="585216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741932" y="8284464"/>
            <a:ext cx="6858000" cy="1165860"/>
            <a:chOff x="0" y="0"/>
            <a:chExt cx="9144000" cy="15544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Secure blockchain storage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64040" y="2125980"/>
            <a:ext cx="8092440" cy="411480"/>
            <a:chOff x="0" y="0"/>
            <a:chExt cx="1078992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9525"/>
              <a:ext cx="107899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80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FUTURE SCOPE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456896" y="2736056"/>
            <a:ext cx="8106728" cy="1180148"/>
            <a:chOff x="0" y="0"/>
            <a:chExt cx="10808970" cy="157353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756267" y="3097149"/>
            <a:ext cx="457962" cy="457962"/>
            <a:chOff x="0" y="0"/>
            <a:chExt cx="610616" cy="6106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765792" y="3106674"/>
            <a:ext cx="438912" cy="438912"/>
            <a:chOff x="0" y="0"/>
            <a:chExt cx="585216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451592" y="2743200"/>
            <a:ext cx="6858000" cy="1165860"/>
            <a:chOff x="0" y="0"/>
            <a:chExt cx="9144000" cy="15544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DigiLocker integration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56896" y="4121372"/>
            <a:ext cx="8106728" cy="1180148"/>
            <a:chOff x="0" y="0"/>
            <a:chExt cx="10808970" cy="157353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756267" y="4482465"/>
            <a:ext cx="457962" cy="457962"/>
            <a:chOff x="0" y="0"/>
            <a:chExt cx="610616" cy="6106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765792" y="4491990"/>
            <a:ext cx="438912" cy="438912"/>
            <a:chOff x="0" y="0"/>
            <a:chExt cx="585216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451592" y="4128516"/>
            <a:ext cx="6858000" cy="1165860"/>
            <a:chOff x="0" y="0"/>
            <a:chExt cx="9144000" cy="15544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Government board support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56896" y="5506688"/>
            <a:ext cx="8106728" cy="1180148"/>
            <a:chOff x="0" y="0"/>
            <a:chExt cx="10808970" cy="157353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756267" y="5867781"/>
            <a:ext cx="457962" cy="457962"/>
            <a:chOff x="0" y="0"/>
            <a:chExt cx="610616" cy="61061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9765792" y="5877306"/>
            <a:ext cx="438912" cy="438912"/>
            <a:chOff x="0" y="0"/>
            <a:chExt cx="585216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3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451592" y="5513832"/>
            <a:ext cx="6858000" cy="1165860"/>
            <a:chOff x="0" y="0"/>
            <a:chExt cx="9144000" cy="15544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International universities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456896" y="6892004"/>
            <a:ext cx="8106728" cy="1180148"/>
            <a:chOff x="0" y="0"/>
            <a:chExt cx="10808970" cy="157353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56267" y="7253097"/>
            <a:ext cx="457962" cy="457962"/>
            <a:chOff x="0" y="0"/>
            <a:chExt cx="610616" cy="6106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9765792" y="7262622"/>
            <a:ext cx="438912" cy="438912"/>
            <a:chOff x="0" y="0"/>
            <a:chExt cx="585216" cy="58521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451592" y="6899148"/>
            <a:ext cx="6858000" cy="1165860"/>
            <a:chOff x="0" y="0"/>
            <a:chExt cx="9144000" cy="15544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NFT credentials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456896" y="8277320"/>
            <a:ext cx="8106728" cy="1180148"/>
            <a:chOff x="0" y="0"/>
            <a:chExt cx="10808970" cy="157353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8089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80897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660888" y="0"/>
                  </a:lnTo>
                  <a:cubicBezTo>
                    <a:pt x="10742676" y="0"/>
                    <a:pt x="10808970" y="66294"/>
                    <a:pt x="10808970" y="148082"/>
                  </a:cubicBezTo>
                  <a:lnTo>
                    <a:pt x="10808970" y="1425448"/>
                  </a:lnTo>
                  <a:cubicBezTo>
                    <a:pt x="10808970" y="1507236"/>
                    <a:pt x="10742676" y="1573530"/>
                    <a:pt x="10660888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5F5F3"/>
            </a:solidFill>
            <a:ln w="14288" cap="sq">
              <a:solidFill>
                <a:srgbClr val="DADAD5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9756267" y="8638413"/>
            <a:ext cx="457962" cy="457962"/>
            <a:chOff x="0" y="0"/>
            <a:chExt cx="610616" cy="61061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765792" y="8647938"/>
            <a:ext cx="438912" cy="438912"/>
            <a:chOff x="0" y="0"/>
            <a:chExt cx="585216" cy="5852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58521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5A54"/>
                  </a:solidFill>
                  <a:latin typeface="Heebo Bold"/>
                  <a:ea typeface="Heebo Bold"/>
                  <a:cs typeface="Heebo Bold"/>
                  <a:sym typeface="Heebo Bold"/>
                </a:rPr>
                <a:t>5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451592" y="8284464"/>
            <a:ext cx="6858000" cy="1165860"/>
            <a:chOff x="0" y="0"/>
            <a:chExt cx="9144000" cy="15544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91440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Mobile application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456" y="952976"/>
            <a:ext cx="1660208" cy="425768"/>
            <a:chOff x="0" y="0"/>
            <a:chExt cx="2213610" cy="567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3610" cy="567690"/>
            </a:xfrm>
            <a:custGeom>
              <a:avLst/>
              <a:gdLst/>
              <a:ahLst/>
              <a:cxnLst/>
              <a:rect r="r" b="b" t="t" l="l"/>
              <a:pathLst>
                <a:path h="567690" w="2213610">
                  <a:moveTo>
                    <a:pt x="0" y="567690"/>
                  </a:moveTo>
                  <a:lnTo>
                    <a:pt x="221361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978" r="0" b="-25978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5816" y="1364456"/>
            <a:ext cx="562928" cy="1523048"/>
            <a:chOff x="0" y="0"/>
            <a:chExt cx="750570" cy="2030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0570" cy="2030730"/>
            </a:xfrm>
            <a:custGeom>
              <a:avLst/>
              <a:gdLst/>
              <a:ahLst/>
              <a:cxnLst/>
              <a:rect r="r" b="b" t="t" l="l"/>
              <a:pathLst>
                <a:path h="2030730" w="750570">
                  <a:moveTo>
                    <a:pt x="0" y="2030730"/>
                  </a:moveTo>
                  <a:lnTo>
                    <a:pt x="7505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97136" t="0" r="-29713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15816" y="2873216"/>
            <a:ext cx="1660208" cy="700088"/>
            <a:chOff x="0" y="0"/>
            <a:chExt cx="2213610" cy="933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3610" cy="933450"/>
            </a:xfrm>
            <a:custGeom>
              <a:avLst/>
              <a:gdLst/>
              <a:ahLst/>
              <a:cxnLst/>
              <a:rect r="r" b="b" t="t" l="l"/>
              <a:pathLst>
                <a:path h="933450" w="2213610">
                  <a:moveTo>
                    <a:pt x="0" y="0"/>
                  </a:moveTo>
                  <a:lnTo>
                    <a:pt x="2213610" y="9334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4103" t="0" r="-4103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64456" y="1364456"/>
            <a:ext cx="1111568" cy="2208848"/>
            <a:chOff x="0" y="0"/>
            <a:chExt cx="1482090" cy="2945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2090" cy="2945130"/>
            </a:xfrm>
            <a:custGeom>
              <a:avLst/>
              <a:gdLst/>
              <a:ahLst/>
              <a:cxnLst/>
              <a:rect r="r" b="b" t="t" l="l"/>
              <a:pathLst>
                <a:path h="2945130" w="1482090">
                  <a:moveTo>
                    <a:pt x="0" y="0"/>
                  </a:moveTo>
                  <a:lnTo>
                    <a:pt x="1482090" y="294513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04958" t="0" r="-204958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903416" y="6439376"/>
            <a:ext cx="1523048" cy="700088"/>
            <a:chOff x="0" y="0"/>
            <a:chExt cx="2030730" cy="933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0730" cy="933450"/>
            </a:xfrm>
            <a:custGeom>
              <a:avLst/>
              <a:gdLst/>
              <a:ahLst/>
              <a:cxnLst/>
              <a:rect r="r" b="b" t="t" l="l"/>
              <a:pathLst>
                <a:path h="933450" w="2030730">
                  <a:moveTo>
                    <a:pt x="0" y="933450"/>
                  </a:moveTo>
                  <a:lnTo>
                    <a:pt x="203073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976" t="0" r="-897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354776" y="7125176"/>
            <a:ext cx="562928" cy="1523048"/>
            <a:chOff x="0" y="0"/>
            <a:chExt cx="750570" cy="20307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0570" cy="2030730"/>
            </a:xfrm>
            <a:custGeom>
              <a:avLst/>
              <a:gdLst/>
              <a:ahLst/>
              <a:cxnLst/>
              <a:rect r="r" b="b" t="t" l="l"/>
              <a:pathLst>
                <a:path h="2030730" w="750570">
                  <a:moveTo>
                    <a:pt x="0" y="2030730"/>
                  </a:moveTo>
                  <a:lnTo>
                    <a:pt x="7505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97136" t="0" r="-29713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354776" y="8633936"/>
            <a:ext cx="1660208" cy="425768"/>
            <a:chOff x="0" y="0"/>
            <a:chExt cx="2213610" cy="567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3610" cy="567690"/>
            </a:xfrm>
            <a:custGeom>
              <a:avLst/>
              <a:gdLst/>
              <a:ahLst/>
              <a:cxnLst/>
              <a:rect r="r" b="b" t="t" l="l"/>
              <a:pathLst>
                <a:path h="567690" w="2213610">
                  <a:moveTo>
                    <a:pt x="0" y="0"/>
                  </a:moveTo>
                  <a:lnTo>
                    <a:pt x="2213610" y="56769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978" r="0" b="-25978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000696" y="6439376"/>
            <a:ext cx="425768" cy="2620328"/>
            <a:chOff x="0" y="0"/>
            <a:chExt cx="567690" cy="3493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7690" cy="3493770"/>
            </a:xfrm>
            <a:custGeom>
              <a:avLst/>
              <a:gdLst/>
              <a:ahLst/>
              <a:cxnLst/>
              <a:rect r="r" b="b" t="t" l="l"/>
              <a:pathLst>
                <a:path h="3493770" w="567690">
                  <a:moveTo>
                    <a:pt x="0" y="3493770"/>
                  </a:moveTo>
                  <a:lnTo>
                    <a:pt x="56769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739626" t="0" r="-739626" b="0"/>
              </a:stretch>
            </a:blipFill>
            <a:ln w="14288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96162" y="1296162"/>
            <a:ext cx="150876" cy="150876"/>
            <a:chOff x="0" y="0"/>
            <a:chExt cx="201168" cy="2011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969514" y="912114"/>
            <a:ext cx="96012" cy="96012"/>
            <a:chOff x="0" y="0"/>
            <a:chExt cx="128016" cy="12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74954" y="2832354"/>
            <a:ext cx="96012" cy="96012"/>
            <a:chOff x="0" y="0"/>
            <a:chExt cx="128016" cy="128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93442" y="3490722"/>
            <a:ext cx="150876" cy="150876"/>
            <a:chOff x="0" y="0"/>
            <a:chExt cx="201168" cy="2011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862554" y="7084314"/>
            <a:ext cx="96012" cy="96012"/>
            <a:chOff x="0" y="0"/>
            <a:chExt cx="128016" cy="128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371314" y="6398514"/>
            <a:ext cx="96012" cy="96012"/>
            <a:chOff x="0" y="0"/>
            <a:chExt cx="128016" cy="128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86482" y="8565642"/>
            <a:ext cx="150876" cy="150876"/>
            <a:chOff x="0" y="0"/>
            <a:chExt cx="201168" cy="2011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959834" y="9004554"/>
            <a:ext cx="96012" cy="96012"/>
            <a:chOff x="0" y="0"/>
            <a:chExt cx="128016" cy="128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F766E">
                <a:alpha val="41961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0" y="3223260"/>
            <a:ext cx="18287543" cy="1783080"/>
            <a:chOff x="0" y="0"/>
            <a:chExt cx="2438339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339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841" r="0" b="-1498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438339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1A1A1A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Thank You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0" y="4869180"/>
            <a:ext cx="18287543" cy="685800"/>
            <a:chOff x="0" y="0"/>
            <a:chExt cx="2438339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438339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F766E"/>
                  </a:solidFill>
                  <a:latin typeface="Heebo"/>
                  <a:ea typeface="Heebo"/>
                  <a:cs typeface="Heebo"/>
                  <a:sym typeface="Heebo"/>
                </a:rPr>
                <a:t>Questions?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979566" y="5956935"/>
            <a:ext cx="6328410" cy="19050"/>
            <a:chOff x="0" y="0"/>
            <a:chExt cx="8437880" cy="25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37880" cy="25400"/>
            </a:xfrm>
            <a:custGeom>
              <a:avLst/>
              <a:gdLst/>
              <a:ahLst/>
              <a:cxnLst/>
              <a:rect r="r" b="b" t="t" l="l"/>
              <a:pathLst>
                <a:path h="25400" w="8437880">
                  <a:moveTo>
                    <a:pt x="0" y="0"/>
                  </a:moveTo>
                  <a:lnTo>
                    <a:pt x="84378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422929" r="0" b="-6422929"/>
              </a:stretch>
            </a:blipFill>
            <a:ln w="19050" cap="sq">
              <a:solidFill>
                <a:srgbClr val="DADAD5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0" y="6261735"/>
            <a:ext cx="18287543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b="true" sz="1425" spc="180">
                <a:solidFill>
                  <a:srgbClr val="0F766E"/>
                </a:solidFill>
                <a:latin typeface="Heebo Bold"/>
                <a:ea typeface="Heebo Bold"/>
                <a:cs typeface="Heebo Bold"/>
                <a:sym typeface="Heebo Bold"/>
              </a:rPr>
              <a:t>GUIDE</a:t>
            </a:r>
          </a:p>
          <a:p>
            <a:pPr algn="ctr">
              <a:lnSpc>
                <a:spcPts val="2925"/>
              </a:lnSpc>
            </a:pPr>
            <a:r>
              <a:rPr lang="en-US" sz="1950" spc="246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Ms. Chetana Bhagat</a:t>
            </a:r>
          </a:p>
          <a:p>
            <a:pPr algn="ctr">
              <a:lnSpc>
                <a:spcPts val="2137"/>
              </a:lnSpc>
            </a:pPr>
            <a:r>
              <a:rPr lang="en-US" b="true" sz="1425" spc="180">
                <a:solidFill>
                  <a:srgbClr val="0F766E"/>
                </a:solidFill>
                <a:latin typeface="Heebo Bold"/>
                <a:ea typeface="Heebo Bold"/>
                <a:cs typeface="Heebo Bold"/>
                <a:sym typeface="Heebo Bold"/>
              </a:rPr>
              <a:t>TEAM MEMBERS</a:t>
            </a:r>
          </a:p>
          <a:p>
            <a:pPr algn="ctr">
              <a:lnSpc>
                <a:spcPts val="2812"/>
              </a:lnSpc>
            </a:pPr>
            <a:r>
              <a:rPr lang="en-US" sz="1875" spc="236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Ramsha Siddiqui  •  Aditya Dhakarge</a:t>
            </a:r>
          </a:p>
          <a:p>
            <a:pPr algn="ctr">
              <a:lnSpc>
                <a:spcPts val="2812"/>
              </a:lnSpc>
            </a:pPr>
            <a:r>
              <a:rPr lang="en-US" sz="1875" spc="236">
                <a:solidFill>
                  <a:srgbClr val="1A1A1A"/>
                </a:solidFill>
                <a:latin typeface="Heebo"/>
                <a:ea typeface="Heebo"/>
                <a:cs typeface="Heebo"/>
                <a:sym typeface="Heebo"/>
              </a:rPr>
              <a:t>Tukaram Magar  •  Priyatam More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482736" y="8700135"/>
            <a:ext cx="1322070" cy="1322070"/>
            <a:chOff x="0" y="0"/>
            <a:chExt cx="1762760" cy="1762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6276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762760">
                  <a:moveTo>
                    <a:pt x="0" y="0"/>
                  </a:moveTo>
                  <a:lnTo>
                    <a:pt x="1762760" y="0"/>
                  </a:lnTo>
                  <a:lnTo>
                    <a:pt x="1762760" y="1762760"/>
                  </a:lnTo>
                  <a:lnTo>
                    <a:pt x="0" y="1762760"/>
                  </a:lnTo>
                  <a:close/>
                </a:path>
              </a:pathLst>
            </a:custGeom>
            <a:solidFill>
              <a:srgbClr val="F5F5F3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492261" y="8709660"/>
            <a:ext cx="1303020" cy="1303020"/>
            <a:chOff x="0" y="0"/>
            <a:chExt cx="173736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7373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F766E"/>
                  </a:solidFill>
                  <a:latin typeface="Heebo Bold"/>
                  <a:ea typeface="Heebo Bold"/>
                  <a:cs typeface="Heebo Bold"/>
                  <a:sym typeface="Heebo Bold"/>
                </a:rPr>
                <a:t>QR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DAHOpIsbFjk</dc:identifier>
  <dcterms:modified xsi:type="dcterms:W3CDTF">2011-08-01T06:04:30Z</dcterms:modified>
  <cp:revision>1</cp:revision>
  <dc:title>Blockchain_Degree_Verification_-_Project_Review_Presentation.pptx</dc:title>
</cp:coreProperties>
</file>